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7" r:id="rId2"/>
    <p:sldId id="256" r:id="rId3"/>
    <p:sldId id="258" r:id="rId4"/>
  </p:sldIdLst>
  <p:sldSz cx="12192000" cy="8124825"/>
  <p:notesSz cx="8124825"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0" d="100"/>
          <a:sy n="70" d="100"/>
        </p:scale>
        <p:origin x="113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6344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image" Target="../media/image16.png"/><Relationship Id="rId26" Type="http://schemas.openxmlformats.org/officeDocument/2006/relationships/image" Target="../media/image24.png"/><Relationship Id="rId3" Type="http://schemas.openxmlformats.org/officeDocument/2006/relationships/image" Target="../media/image1.png"/><Relationship Id="rId21" Type="http://schemas.openxmlformats.org/officeDocument/2006/relationships/image" Target="../media/image19.png"/><Relationship Id="rId34" Type="http://schemas.openxmlformats.org/officeDocument/2006/relationships/image" Target="../media/image32.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png"/><Relationship Id="rId33" Type="http://schemas.openxmlformats.org/officeDocument/2006/relationships/image" Target="../media/image31.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29"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32" Type="http://schemas.openxmlformats.org/officeDocument/2006/relationships/image" Target="../media/image30.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png"/><Relationship Id="rId36" Type="http://schemas.openxmlformats.org/officeDocument/2006/relationships/image" Target="../media/image34.png"/><Relationship Id="rId10" Type="http://schemas.openxmlformats.org/officeDocument/2006/relationships/image" Target="../media/image8.png"/><Relationship Id="rId19" Type="http://schemas.openxmlformats.org/officeDocument/2006/relationships/image" Target="../media/image17.png"/><Relationship Id="rId31" Type="http://schemas.openxmlformats.org/officeDocument/2006/relationships/image" Target="../media/image29.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 Id="rId27" Type="http://schemas.openxmlformats.org/officeDocument/2006/relationships/image" Target="../media/image25.png"/><Relationship Id="rId30" Type="http://schemas.openxmlformats.org/officeDocument/2006/relationships/image" Target="../media/image28.png"/><Relationship Id="rId35" Type="http://schemas.openxmlformats.org/officeDocument/2006/relationships/image" Target="../media/image33.png"/><Relationship Id="rId8"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0436C7-0ECE-8297-F8BC-7896C5B07BF2}"/>
              </a:ext>
            </a:extLst>
          </p:cNvPr>
          <p:cNvSpPr txBox="1"/>
          <p:nvPr/>
        </p:nvSpPr>
        <p:spPr>
          <a:xfrm>
            <a:off x="3135086" y="2258789"/>
            <a:ext cx="6096000" cy="3892861"/>
          </a:xfrm>
          <a:prstGeom prst="rect">
            <a:avLst/>
          </a:prstGeom>
          <a:noFill/>
        </p:spPr>
        <p:txBody>
          <a:bodyPr wrap="square">
            <a:spAutoFit/>
          </a:bodyPr>
          <a:lstStyle/>
          <a:p>
            <a:pPr algn="ctr">
              <a:lnSpc>
                <a:spcPct val="150000"/>
              </a:lnSpc>
            </a:pPr>
            <a:r>
              <a:rPr lang="en-IN" sz="2800" b="1" dirty="0">
                <a:latin typeface="Times New Roman" panose="02020603050405020304" pitchFamily="18" charset="0"/>
                <a:cs typeface="Times New Roman" panose="02020603050405020304" pitchFamily="18" charset="0"/>
              </a:rPr>
              <a:t>AT2 (CO1, 20%): Conceptual Architecture Mapping of Domain Based Terrain Mapping </a:t>
            </a:r>
          </a:p>
          <a:p>
            <a:pPr algn="ctr">
              <a:lnSpc>
                <a:spcPct val="150000"/>
              </a:lnSpc>
            </a:pPr>
            <a:r>
              <a:rPr lang="en-IN" sz="2800" dirty="0">
                <a:latin typeface="Times New Roman" panose="02020603050405020304" pitchFamily="18" charset="0"/>
                <a:cs typeface="Times New Roman" panose="02020603050405020304" pitchFamily="18" charset="0"/>
              </a:rPr>
              <a:t>Name: K Balaji</a:t>
            </a:r>
          </a:p>
          <a:p>
            <a:pPr algn="ctr">
              <a:lnSpc>
                <a:spcPct val="150000"/>
              </a:lnSpc>
            </a:pPr>
            <a:r>
              <a:rPr lang="en-IN" sz="2800" dirty="0">
                <a:latin typeface="Times New Roman" panose="02020603050405020304" pitchFamily="18" charset="0"/>
                <a:cs typeface="Times New Roman" panose="02020603050405020304" pitchFamily="18" charset="0"/>
              </a:rPr>
              <a:t>Reg.no:192324180</a:t>
            </a:r>
          </a:p>
          <a:p>
            <a:pPr algn="ctr">
              <a:lnSpc>
                <a:spcPct val="150000"/>
              </a:lnSpc>
            </a:pPr>
            <a:r>
              <a:rPr lang="en-IN" sz="2800" dirty="0">
                <a:latin typeface="Times New Roman" panose="02020603050405020304" pitchFamily="18" charset="0"/>
                <a:cs typeface="Times New Roman" panose="02020603050405020304" pitchFamily="18" charset="0"/>
              </a:rPr>
              <a:t>Course code:DSA0203</a:t>
            </a:r>
          </a:p>
        </p:txBody>
      </p:sp>
    </p:spTree>
    <p:extLst>
      <p:ext uri="{BB962C8B-B14F-4D97-AF65-F5344CB8AC3E}">
        <p14:creationId xmlns:p14="http://schemas.microsoft.com/office/powerpoint/2010/main" val="1729234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71536" y="47624"/>
            <a:ext cx="10120059" cy="404802"/>
          </a:xfrm>
          <a:prstGeom prst="rect">
            <a:avLst/>
          </a:prstGeom>
          <a:noFill/>
          <a:ln/>
        </p:spPr>
        <p:txBody>
          <a:bodyPr wrap="square" lIns="0" tIns="0" rIns="0" bIns="0" rtlCol="0" anchor="ctr"/>
          <a:lstStyle/>
          <a:p>
            <a:pPr marL="0" indent="0" algn="ctr">
              <a:buNone/>
            </a:pPr>
            <a:r>
              <a:rPr lang="en-US" sz="2000" b="1" dirty="0">
                <a:solidFill>
                  <a:srgbClr val="0D2A55"/>
                </a:solidFill>
                <a:latin typeface="Arial" pitchFamily="34" charset="0"/>
                <a:ea typeface="Arial" pitchFamily="34" charset="-122"/>
                <a:cs typeface="Arial" pitchFamily="34" charset="-120"/>
              </a:rPr>
              <a:t>SATELLITE-BASED REMOTE SENSING SYSTEM ARCHITECTURE</a:t>
            </a:r>
            <a:endParaRPr lang="en-US" sz="2000" dirty="0"/>
          </a:p>
        </p:txBody>
      </p:sp>
      <p:sp>
        <p:nvSpPr>
          <p:cNvPr id="3" name="Shape 1"/>
          <p:cNvSpPr/>
          <p:nvPr/>
        </p:nvSpPr>
        <p:spPr>
          <a:xfrm>
            <a:off x="1369185" y="428614"/>
            <a:ext cx="9524762" cy="0"/>
          </a:xfrm>
          <a:prstGeom prst="line">
            <a:avLst/>
          </a:prstGeom>
          <a:noFill/>
          <a:ln w="19050">
            <a:solidFill>
              <a:srgbClr val="0D2A55"/>
            </a:solidFill>
            <a:prstDash val="solid"/>
          </a:ln>
        </p:spPr>
      </p:sp>
      <p:sp>
        <p:nvSpPr>
          <p:cNvPr id="4" name="Shape 2"/>
          <p:cNvSpPr/>
          <p:nvPr/>
        </p:nvSpPr>
        <p:spPr>
          <a:xfrm>
            <a:off x="59530" y="690545"/>
            <a:ext cx="2202601" cy="4821911"/>
          </a:xfrm>
          <a:prstGeom prst="roundRect">
            <a:avLst>
              <a:gd name="adj" fmla="val 2076"/>
            </a:avLst>
          </a:prstGeom>
          <a:ln w="15875">
            <a:solidFill>
              <a:srgbClr val="1B3B6F"/>
            </a:solidFill>
            <a:prstDash val="solid"/>
          </a:ln>
        </p:spPr>
      </p:sp>
      <p:sp>
        <p:nvSpPr>
          <p:cNvPr id="5" name="Shape 3"/>
          <p:cNvSpPr/>
          <p:nvPr/>
        </p:nvSpPr>
        <p:spPr>
          <a:xfrm>
            <a:off x="59530" y="690545"/>
            <a:ext cx="2202601" cy="309555"/>
          </a:xfrm>
          <a:prstGeom prst="roundRect">
            <a:avLst>
              <a:gd name="adj" fmla="val 14770"/>
            </a:avLst>
          </a:prstGeom>
          <a:solidFill>
            <a:srgbClr val="1B3B6F"/>
          </a:solidFill>
          <a:ln/>
        </p:spPr>
      </p:sp>
      <p:sp>
        <p:nvSpPr>
          <p:cNvPr id="6" name="Text 4"/>
          <p:cNvSpPr/>
          <p:nvPr/>
        </p:nvSpPr>
        <p:spPr>
          <a:xfrm>
            <a:off x="59530" y="690545"/>
            <a:ext cx="2202601" cy="309555"/>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INPUT SENSORS</a:t>
            </a:r>
            <a:endParaRPr lang="en-US" sz="1100" dirty="0"/>
          </a:p>
        </p:txBody>
      </p:sp>
      <p:sp>
        <p:nvSpPr>
          <p:cNvPr id="7" name="Shape 5"/>
          <p:cNvSpPr/>
          <p:nvPr/>
        </p:nvSpPr>
        <p:spPr>
          <a:xfrm>
            <a:off x="119060" y="1047724"/>
            <a:ext cx="2071636" cy="1523962"/>
          </a:xfrm>
          <a:prstGeom prst="roundRect">
            <a:avLst>
              <a:gd name="adj" fmla="val 3000"/>
            </a:avLst>
          </a:prstGeom>
          <a:ln w="12700">
            <a:solidFill>
              <a:srgbClr val="8A8A8A"/>
            </a:solidFill>
            <a:prstDash val="solid"/>
          </a:ln>
        </p:spPr>
      </p:sp>
      <p:pic>
        <p:nvPicPr>
          <p:cNvPr id="8" name="Image 0" descr="assets_sat/t_imager_icon.png"/>
          <p:cNvPicPr>
            <a:picLocks noChangeAspect="1"/>
          </p:cNvPicPr>
          <p:nvPr/>
        </p:nvPicPr>
        <p:blipFill>
          <a:blip r:embed="rId3"/>
          <a:stretch>
            <a:fillRect/>
          </a:stretch>
        </p:blipFill>
        <p:spPr>
          <a:xfrm>
            <a:off x="178589" y="1107254"/>
            <a:ext cx="785793" cy="666733"/>
          </a:xfrm>
          <a:prstGeom prst="rect">
            <a:avLst/>
          </a:prstGeom>
        </p:spPr>
      </p:pic>
      <p:sp>
        <p:nvSpPr>
          <p:cNvPr id="9" name="Text 6"/>
          <p:cNvSpPr/>
          <p:nvPr/>
        </p:nvSpPr>
        <p:spPr>
          <a:xfrm>
            <a:off x="1000100" y="1095348"/>
            <a:ext cx="1131065" cy="666733"/>
          </a:xfrm>
          <a:prstGeom prst="rect">
            <a:avLst/>
          </a:prstGeom>
          <a:noFill/>
          <a:ln/>
        </p:spPr>
        <p:txBody>
          <a:bodyPr wrap="square" lIns="0" tIns="0" rIns="0" bIns="0" rtlCol="0" anchor="ctr"/>
          <a:lstStyle/>
          <a:p>
            <a:pPr marL="0" indent="0" algn="l">
              <a:buNone/>
            </a:pPr>
            <a:r>
              <a:rPr lang="en-US" sz="950" b="1" dirty="0">
                <a:solidFill>
                  <a:srgbClr val="1A1A2E"/>
                </a:solidFill>
                <a:latin typeface="Arial" pitchFamily="34" charset="0"/>
                <a:ea typeface="Arial" pitchFamily="34" charset="-122"/>
                <a:cs typeface="Arial" pitchFamily="34" charset="-120"/>
              </a:rPr>
              <a:t>Multi-spectral</a:t>
            </a:r>
            <a:endParaRPr lang="en-US" sz="950" dirty="0"/>
          </a:p>
          <a:p>
            <a:pPr marL="0" indent="0" algn="l">
              <a:buNone/>
            </a:pPr>
            <a:r>
              <a:rPr lang="en-US" sz="950" b="1" dirty="0">
                <a:solidFill>
                  <a:srgbClr val="1A1A2E"/>
                </a:solidFill>
                <a:latin typeface="Arial" pitchFamily="34" charset="0"/>
                <a:ea typeface="Arial" pitchFamily="34" charset="-122"/>
                <a:cs typeface="Arial" pitchFamily="34" charset="-120"/>
              </a:rPr>
              <a:t>Imager</a:t>
            </a:r>
            <a:endParaRPr lang="en-US" sz="950" dirty="0"/>
          </a:p>
          <a:p>
            <a:pPr marL="0" indent="0" algn="l">
              <a:buNone/>
            </a:pPr>
            <a:r>
              <a:rPr lang="en-US" sz="950" b="1" dirty="0">
                <a:solidFill>
                  <a:srgbClr val="1A1A2E"/>
                </a:solidFill>
                <a:latin typeface="Arial" pitchFamily="34" charset="0"/>
                <a:ea typeface="Arial" pitchFamily="34" charset="-122"/>
                <a:cs typeface="Arial" pitchFamily="34" charset="-120"/>
              </a:rPr>
              <a:t>(Imagery)</a:t>
            </a:r>
            <a:endParaRPr lang="en-US" sz="950" dirty="0"/>
          </a:p>
        </p:txBody>
      </p:sp>
      <p:pic>
        <p:nvPicPr>
          <p:cNvPr id="10" name="Image 1" descr="assets_sat/t_imager_thumbs.png"/>
          <p:cNvPicPr>
            <a:picLocks noChangeAspect="1"/>
          </p:cNvPicPr>
          <p:nvPr/>
        </p:nvPicPr>
        <p:blipFill>
          <a:blip r:embed="rId4"/>
          <a:stretch>
            <a:fillRect/>
          </a:stretch>
        </p:blipFill>
        <p:spPr>
          <a:xfrm>
            <a:off x="178589" y="1821611"/>
            <a:ext cx="1928764" cy="690545"/>
          </a:xfrm>
          <a:prstGeom prst="rect">
            <a:avLst/>
          </a:prstGeom>
        </p:spPr>
      </p:pic>
      <p:sp>
        <p:nvSpPr>
          <p:cNvPr id="11" name="Shape 7"/>
          <p:cNvSpPr/>
          <p:nvPr/>
        </p:nvSpPr>
        <p:spPr>
          <a:xfrm>
            <a:off x="119060" y="2690745"/>
            <a:ext cx="2071636" cy="1250125"/>
          </a:xfrm>
          <a:prstGeom prst="roundRect">
            <a:avLst>
              <a:gd name="adj" fmla="val 3657"/>
            </a:avLst>
          </a:prstGeom>
          <a:ln w="12700">
            <a:solidFill>
              <a:srgbClr val="8A8A8A"/>
            </a:solidFill>
            <a:prstDash val="solid"/>
          </a:ln>
        </p:spPr>
      </p:sp>
      <p:pic>
        <p:nvPicPr>
          <p:cNvPr id="12" name="Image 2" descr="assets_sat/t_lidar_icon.png"/>
          <p:cNvPicPr>
            <a:picLocks noChangeAspect="1"/>
          </p:cNvPicPr>
          <p:nvPr/>
        </p:nvPicPr>
        <p:blipFill>
          <a:blip r:embed="rId5"/>
          <a:stretch>
            <a:fillRect/>
          </a:stretch>
        </p:blipFill>
        <p:spPr>
          <a:xfrm>
            <a:off x="178589" y="2750275"/>
            <a:ext cx="785793" cy="666733"/>
          </a:xfrm>
          <a:prstGeom prst="rect">
            <a:avLst/>
          </a:prstGeom>
        </p:spPr>
      </p:pic>
      <p:sp>
        <p:nvSpPr>
          <p:cNvPr id="13" name="Text 8"/>
          <p:cNvSpPr/>
          <p:nvPr/>
        </p:nvSpPr>
        <p:spPr>
          <a:xfrm>
            <a:off x="1000100" y="2738369"/>
            <a:ext cx="1131065" cy="714357"/>
          </a:xfrm>
          <a:prstGeom prst="rect">
            <a:avLst/>
          </a:prstGeom>
          <a:noFill/>
          <a:ln/>
        </p:spPr>
        <p:txBody>
          <a:bodyPr wrap="square" lIns="0" tIns="0" rIns="0" bIns="0" rtlCol="0" anchor="ctr"/>
          <a:lstStyle/>
          <a:p>
            <a:pPr marL="0" indent="0" algn="l">
              <a:buNone/>
            </a:pPr>
            <a:r>
              <a:rPr lang="en-US" sz="900" b="1" dirty="0">
                <a:solidFill>
                  <a:srgbClr val="1A1A2E"/>
                </a:solidFill>
                <a:latin typeface="Arial" pitchFamily="34" charset="0"/>
                <a:ea typeface="Arial" pitchFamily="34" charset="-122"/>
                <a:cs typeface="Arial" pitchFamily="34" charset="-120"/>
              </a:rPr>
              <a:t>Space-borne</a:t>
            </a:r>
            <a:endParaRPr lang="en-US" sz="900" dirty="0"/>
          </a:p>
          <a:p>
            <a:pPr marL="0" indent="0" algn="l">
              <a:buNone/>
            </a:pPr>
            <a:r>
              <a:rPr lang="en-US" sz="900" b="1" dirty="0">
                <a:solidFill>
                  <a:srgbClr val="1A1A2E"/>
                </a:solidFill>
                <a:latin typeface="Arial" pitchFamily="34" charset="0"/>
                <a:ea typeface="Arial" pitchFamily="34" charset="-122"/>
                <a:cs typeface="Arial" pitchFamily="34" charset="-120"/>
              </a:rPr>
              <a:t>Lidar</a:t>
            </a:r>
            <a:endParaRPr lang="en-US" sz="900" dirty="0"/>
          </a:p>
          <a:p>
            <a:pPr marL="0" indent="0" algn="l">
              <a:buNone/>
            </a:pPr>
            <a:r>
              <a:rPr lang="en-US" sz="900" b="1" dirty="0">
                <a:solidFill>
                  <a:srgbClr val="1A1A2E"/>
                </a:solidFill>
                <a:latin typeface="Arial" pitchFamily="34" charset="0"/>
                <a:ea typeface="Arial" pitchFamily="34" charset="-122"/>
                <a:cs typeface="Arial" pitchFamily="34" charset="-120"/>
              </a:rPr>
              <a:t>(Point Cloud /</a:t>
            </a:r>
            <a:endParaRPr lang="en-US" sz="900" dirty="0"/>
          </a:p>
          <a:p>
            <a:pPr marL="0" indent="0" algn="l">
              <a:buNone/>
            </a:pPr>
            <a:r>
              <a:rPr lang="en-US" sz="900" b="1" dirty="0">
                <a:solidFill>
                  <a:srgbClr val="1A1A2E"/>
                </a:solidFill>
                <a:latin typeface="Arial" pitchFamily="34" charset="0"/>
                <a:ea typeface="Arial" pitchFamily="34" charset="-122"/>
                <a:cs typeface="Arial" pitchFamily="34" charset="-120"/>
              </a:rPr>
              <a:t>Topography)</a:t>
            </a:r>
            <a:endParaRPr lang="en-US" sz="900" dirty="0"/>
          </a:p>
        </p:txBody>
      </p:sp>
      <p:pic>
        <p:nvPicPr>
          <p:cNvPr id="14" name="Image 3" descr="assets_sat/t_lidar_thumbs.png"/>
          <p:cNvPicPr>
            <a:picLocks noChangeAspect="1"/>
          </p:cNvPicPr>
          <p:nvPr/>
        </p:nvPicPr>
        <p:blipFill>
          <a:blip r:embed="rId6"/>
          <a:stretch>
            <a:fillRect/>
          </a:stretch>
        </p:blipFill>
        <p:spPr>
          <a:xfrm>
            <a:off x="178589" y="3500350"/>
            <a:ext cx="1071536" cy="392896"/>
          </a:xfrm>
          <a:prstGeom prst="rect">
            <a:avLst/>
          </a:prstGeom>
        </p:spPr>
      </p:pic>
      <p:sp>
        <p:nvSpPr>
          <p:cNvPr id="15" name="Shape 9"/>
          <p:cNvSpPr/>
          <p:nvPr/>
        </p:nvSpPr>
        <p:spPr>
          <a:xfrm>
            <a:off x="119060" y="4000400"/>
            <a:ext cx="2071636" cy="1452526"/>
          </a:xfrm>
          <a:prstGeom prst="roundRect">
            <a:avLst>
              <a:gd name="adj" fmla="val 3148"/>
            </a:avLst>
          </a:prstGeom>
          <a:ln w="12700">
            <a:solidFill>
              <a:srgbClr val="8A8A8A"/>
            </a:solidFill>
            <a:prstDash val="solid"/>
          </a:ln>
        </p:spPr>
      </p:sp>
      <p:pic>
        <p:nvPicPr>
          <p:cNvPr id="16" name="Image 4" descr="assets_sat/t_gps_icon.png"/>
          <p:cNvPicPr>
            <a:picLocks noChangeAspect="1"/>
          </p:cNvPicPr>
          <p:nvPr/>
        </p:nvPicPr>
        <p:blipFill>
          <a:blip r:embed="rId7"/>
          <a:stretch>
            <a:fillRect/>
          </a:stretch>
        </p:blipFill>
        <p:spPr>
          <a:xfrm>
            <a:off x="178589" y="4083742"/>
            <a:ext cx="785793" cy="666733"/>
          </a:xfrm>
          <a:prstGeom prst="rect">
            <a:avLst/>
          </a:prstGeom>
        </p:spPr>
      </p:pic>
      <p:sp>
        <p:nvSpPr>
          <p:cNvPr id="17" name="Text 10"/>
          <p:cNvSpPr/>
          <p:nvPr/>
        </p:nvSpPr>
        <p:spPr>
          <a:xfrm>
            <a:off x="1000100" y="4059930"/>
            <a:ext cx="1131065" cy="690545"/>
          </a:xfrm>
          <a:prstGeom prst="rect">
            <a:avLst/>
          </a:prstGeom>
          <a:noFill/>
          <a:ln/>
        </p:spPr>
        <p:txBody>
          <a:bodyPr wrap="square" lIns="0" tIns="0" rIns="0" bIns="0" rtlCol="0" anchor="ctr"/>
          <a:lstStyle/>
          <a:p>
            <a:pPr marL="0" indent="0" algn="l">
              <a:buNone/>
            </a:pPr>
            <a:r>
              <a:rPr lang="en-US" sz="950" b="1" dirty="0">
                <a:solidFill>
                  <a:srgbClr val="1A1A2E"/>
                </a:solidFill>
                <a:latin typeface="Arial" pitchFamily="34" charset="0"/>
                <a:ea typeface="Arial" pitchFamily="34" charset="-122"/>
                <a:cs typeface="Arial" pitchFamily="34" charset="-120"/>
              </a:rPr>
              <a:t>GPS / GNSS</a:t>
            </a:r>
            <a:endParaRPr lang="en-US" sz="950" dirty="0"/>
          </a:p>
          <a:p>
            <a:pPr marL="0" indent="0" algn="l">
              <a:buNone/>
            </a:pPr>
            <a:r>
              <a:rPr lang="en-US" sz="950" b="1" dirty="0">
                <a:solidFill>
                  <a:srgbClr val="1A1A2E"/>
                </a:solidFill>
                <a:latin typeface="Arial" pitchFamily="34" charset="0"/>
                <a:ea typeface="Arial" pitchFamily="34" charset="-122"/>
                <a:cs typeface="Arial" pitchFamily="34" charset="-120"/>
              </a:rPr>
              <a:t>(Position &amp;</a:t>
            </a:r>
            <a:endParaRPr lang="en-US" sz="950" dirty="0"/>
          </a:p>
          <a:p>
            <a:pPr marL="0" indent="0" algn="l">
              <a:buNone/>
            </a:pPr>
            <a:r>
              <a:rPr lang="en-US" sz="950" b="1" dirty="0">
                <a:solidFill>
                  <a:srgbClr val="1A1A2E"/>
                </a:solidFill>
                <a:latin typeface="Arial" pitchFamily="34" charset="0"/>
                <a:ea typeface="Arial" pitchFamily="34" charset="-122"/>
                <a:cs typeface="Arial" pitchFamily="34" charset="-120"/>
              </a:rPr>
              <a:t>Orbit)</a:t>
            </a:r>
            <a:endParaRPr lang="en-US" sz="950" dirty="0"/>
          </a:p>
        </p:txBody>
      </p:sp>
      <p:pic>
        <p:nvPicPr>
          <p:cNvPr id="18" name="Image 5" descr="assets_sat/t_gps_thumbs.png"/>
          <p:cNvPicPr>
            <a:picLocks noChangeAspect="1"/>
          </p:cNvPicPr>
          <p:nvPr/>
        </p:nvPicPr>
        <p:blipFill>
          <a:blip r:embed="rId8"/>
          <a:stretch>
            <a:fillRect/>
          </a:stretch>
        </p:blipFill>
        <p:spPr>
          <a:xfrm>
            <a:off x="178589" y="4798099"/>
            <a:ext cx="1547774" cy="595298"/>
          </a:xfrm>
          <a:prstGeom prst="rect">
            <a:avLst/>
          </a:prstGeom>
        </p:spPr>
      </p:pic>
      <p:sp>
        <p:nvSpPr>
          <p:cNvPr id="19" name="Shape 11"/>
          <p:cNvSpPr/>
          <p:nvPr/>
        </p:nvSpPr>
        <p:spPr>
          <a:xfrm>
            <a:off x="2190695" y="1785893"/>
            <a:ext cx="285743" cy="0"/>
          </a:xfrm>
          <a:prstGeom prst="line">
            <a:avLst/>
          </a:prstGeom>
          <a:noFill/>
          <a:ln w="22225">
            <a:solidFill>
              <a:srgbClr val="1B3B6F"/>
            </a:solidFill>
            <a:prstDash val="solid"/>
          </a:ln>
        </p:spPr>
      </p:sp>
      <p:sp>
        <p:nvSpPr>
          <p:cNvPr id="20" name="Shape 12"/>
          <p:cNvSpPr/>
          <p:nvPr/>
        </p:nvSpPr>
        <p:spPr>
          <a:xfrm>
            <a:off x="2190695" y="3309855"/>
            <a:ext cx="238119" cy="1071536"/>
          </a:xfrm>
          <a:prstGeom prst="line">
            <a:avLst/>
          </a:prstGeom>
          <a:noFill/>
          <a:ln w="15875">
            <a:solidFill>
              <a:srgbClr val="2E7D32"/>
            </a:solidFill>
            <a:prstDash val="dash"/>
            <a:tailEnd type="triangle"/>
          </a:ln>
        </p:spPr>
      </p:sp>
      <p:sp>
        <p:nvSpPr>
          <p:cNvPr id="21" name="Shape 13"/>
          <p:cNvSpPr/>
          <p:nvPr/>
        </p:nvSpPr>
        <p:spPr>
          <a:xfrm>
            <a:off x="2190695" y="4714757"/>
            <a:ext cx="238119" cy="357179"/>
          </a:xfrm>
          <a:prstGeom prst="line">
            <a:avLst/>
          </a:prstGeom>
          <a:noFill/>
          <a:ln w="15875">
            <a:solidFill>
              <a:srgbClr val="6C3FA8"/>
            </a:solidFill>
            <a:prstDash val="dash"/>
            <a:tailEnd type="triangle"/>
          </a:ln>
        </p:spPr>
      </p:sp>
      <p:sp>
        <p:nvSpPr>
          <p:cNvPr id="22" name="Shape 14"/>
          <p:cNvSpPr/>
          <p:nvPr/>
        </p:nvSpPr>
        <p:spPr>
          <a:xfrm>
            <a:off x="2464532" y="750075"/>
            <a:ext cx="5833917" cy="3476538"/>
          </a:xfrm>
          <a:prstGeom prst="roundRect">
            <a:avLst>
              <a:gd name="adj" fmla="val 1315"/>
            </a:avLst>
          </a:prstGeom>
          <a:solidFill>
            <a:srgbClr val="FFF6E9"/>
          </a:solidFill>
          <a:ln w="15875">
            <a:solidFill>
              <a:srgbClr val="E67E22"/>
            </a:solidFill>
            <a:prstDash val="solid"/>
          </a:ln>
        </p:spPr>
      </p:sp>
      <p:sp>
        <p:nvSpPr>
          <p:cNvPr id="23" name="Text 15"/>
          <p:cNvSpPr/>
          <p:nvPr/>
        </p:nvSpPr>
        <p:spPr>
          <a:xfrm>
            <a:off x="2464532" y="809605"/>
            <a:ext cx="5833917" cy="261931"/>
          </a:xfrm>
          <a:prstGeom prst="rect">
            <a:avLst/>
          </a:prstGeom>
          <a:noFill/>
          <a:ln/>
        </p:spPr>
        <p:txBody>
          <a:bodyPr wrap="square" lIns="0" tIns="0" rIns="0" bIns="0" rtlCol="0" anchor="ctr"/>
          <a:lstStyle/>
          <a:p>
            <a:pPr marL="0" indent="0" algn="ctr">
              <a:buNone/>
            </a:pPr>
            <a:r>
              <a:rPr lang="en-US" sz="1300" b="1" dirty="0">
                <a:solidFill>
                  <a:srgbClr val="E67E22"/>
                </a:solidFill>
                <a:latin typeface="Arial" pitchFamily="34" charset="0"/>
                <a:ea typeface="Arial" pitchFamily="34" charset="-122"/>
                <a:cs typeface="Arial" pitchFamily="34" charset="-120"/>
              </a:rPr>
              <a:t>PERCEPTION &amp; ANALYTICS</a:t>
            </a:r>
            <a:endParaRPr lang="en-US" sz="1300" dirty="0"/>
          </a:p>
        </p:txBody>
      </p:sp>
      <p:sp>
        <p:nvSpPr>
          <p:cNvPr id="24" name="Shape 16"/>
          <p:cNvSpPr/>
          <p:nvPr/>
        </p:nvSpPr>
        <p:spPr>
          <a:xfrm>
            <a:off x="2619310" y="1095348"/>
            <a:ext cx="5536268" cy="1666833"/>
          </a:xfrm>
          <a:prstGeom prst="roundRect">
            <a:avLst>
              <a:gd name="adj" fmla="val 2743"/>
            </a:avLst>
          </a:prstGeom>
          <a:solidFill>
            <a:srgbClr val="FFFFFF"/>
          </a:solidFill>
          <a:ln w="9525">
            <a:solidFill>
              <a:srgbClr val="E67E22"/>
            </a:solidFill>
            <a:prstDash val="solid"/>
          </a:ln>
        </p:spPr>
      </p:sp>
      <p:sp>
        <p:nvSpPr>
          <p:cNvPr id="25" name="Text 17"/>
          <p:cNvSpPr/>
          <p:nvPr/>
        </p:nvSpPr>
        <p:spPr>
          <a:xfrm>
            <a:off x="2619310" y="1142971"/>
            <a:ext cx="5536268" cy="190495"/>
          </a:xfrm>
          <a:prstGeom prst="rect">
            <a:avLst/>
          </a:prstGeom>
          <a:noFill/>
          <a:ln/>
        </p:spPr>
        <p:txBody>
          <a:bodyPr wrap="square" lIns="0" tIns="0" rIns="0" bIns="0" rtlCol="0" anchor="ctr"/>
          <a:lstStyle/>
          <a:p>
            <a:pPr marL="0" indent="0" algn="ctr">
              <a:buNone/>
            </a:pPr>
            <a:r>
              <a:rPr lang="en-US" sz="1000" b="1" dirty="0">
                <a:solidFill>
                  <a:srgbClr val="E67E22"/>
                </a:solidFill>
                <a:latin typeface="Arial" pitchFamily="34" charset="0"/>
                <a:ea typeface="Arial" pitchFamily="34" charset="-122"/>
                <a:cs typeface="Arial" pitchFamily="34" charset="-120"/>
              </a:rPr>
              <a:t>1. IMAGE PREPROCESSING</a:t>
            </a:r>
            <a:endParaRPr lang="en-US" sz="1000" dirty="0"/>
          </a:p>
        </p:txBody>
      </p:sp>
      <p:sp>
        <p:nvSpPr>
          <p:cNvPr id="26" name="Text 18"/>
          <p:cNvSpPr/>
          <p:nvPr/>
        </p:nvSpPr>
        <p:spPr>
          <a:xfrm>
            <a:off x="2774087" y="1357279"/>
            <a:ext cx="857229" cy="166683"/>
          </a:xfrm>
          <a:prstGeom prst="rect">
            <a:avLst/>
          </a:prstGeom>
          <a:noFill/>
          <a:ln/>
        </p:spPr>
        <p:txBody>
          <a:bodyPr wrap="square" lIns="0" tIns="0" rIns="0" bIns="0" rtlCol="0" anchor="ctr"/>
          <a:lstStyle/>
          <a:p>
            <a:pPr marL="0" indent="0" algn="ctr">
              <a:buNone/>
            </a:pPr>
            <a:r>
              <a:rPr lang="en-US" sz="800" b="1" dirty="0">
                <a:solidFill>
                  <a:srgbClr val="1A1A2E"/>
                </a:solidFill>
                <a:latin typeface="Arial" pitchFamily="34" charset="0"/>
                <a:ea typeface="Arial" pitchFamily="34" charset="-122"/>
                <a:cs typeface="Arial" pitchFamily="34" charset="-120"/>
              </a:rPr>
              <a:t>Input Image</a:t>
            </a:r>
            <a:endParaRPr lang="en-US" sz="800" dirty="0"/>
          </a:p>
        </p:txBody>
      </p:sp>
      <p:pic>
        <p:nvPicPr>
          <p:cNvPr id="27" name="Image 6" descr="assets_sat/t_prep1.png"/>
          <p:cNvPicPr>
            <a:picLocks noChangeAspect="1"/>
          </p:cNvPicPr>
          <p:nvPr/>
        </p:nvPicPr>
        <p:blipFill>
          <a:blip r:embed="rId9"/>
          <a:stretch>
            <a:fillRect/>
          </a:stretch>
        </p:blipFill>
        <p:spPr>
          <a:xfrm>
            <a:off x="2774087" y="1547774"/>
            <a:ext cx="857229" cy="928664"/>
          </a:xfrm>
          <a:prstGeom prst="rect">
            <a:avLst/>
          </a:prstGeom>
        </p:spPr>
      </p:pic>
      <p:sp>
        <p:nvSpPr>
          <p:cNvPr id="28" name="Shape 19"/>
          <p:cNvSpPr/>
          <p:nvPr/>
        </p:nvSpPr>
        <p:spPr>
          <a:xfrm>
            <a:off x="3655127" y="1928764"/>
            <a:ext cx="190495" cy="166683"/>
          </a:xfrm>
          <a:prstGeom prst="rightArrow">
            <a:avLst/>
          </a:prstGeom>
          <a:solidFill>
            <a:srgbClr val="0D2A55"/>
          </a:solidFill>
          <a:ln/>
        </p:spPr>
      </p:sp>
      <p:sp>
        <p:nvSpPr>
          <p:cNvPr id="29" name="Text 20"/>
          <p:cNvSpPr/>
          <p:nvPr/>
        </p:nvSpPr>
        <p:spPr>
          <a:xfrm>
            <a:off x="3845623" y="1357279"/>
            <a:ext cx="857229" cy="166683"/>
          </a:xfrm>
          <a:prstGeom prst="rect">
            <a:avLst/>
          </a:prstGeom>
          <a:noFill/>
          <a:ln/>
        </p:spPr>
        <p:txBody>
          <a:bodyPr wrap="square" lIns="0" tIns="0" rIns="0" bIns="0" rtlCol="0" anchor="ctr"/>
          <a:lstStyle/>
          <a:p>
            <a:pPr marL="0" indent="0" algn="ctr">
              <a:buNone/>
            </a:pPr>
            <a:r>
              <a:rPr lang="en-US" sz="800" b="1" dirty="0">
                <a:solidFill>
                  <a:srgbClr val="1A1A2E"/>
                </a:solidFill>
                <a:latin typeface="Arial" pitchFamily="34" charset="0"/>
                <a:ea typeface="Arial" pitchFamily="34" charset="-122"/>
                <a:cs typeface="Arial" pitchFamily="34" charset="-120"/>
              </a:rPr>
              <a:t>Resize</a:t>
            </a:r>
            <a:endParaRPr lang="en-US" sz="800" dirty="0"/>
          </a:p>
        </p:txBody>
      </p:sp>
      <p:pic>
        <p:nvPicPr>
          <p:cNvPr id="30" name="Image 7" descr="assets_sat/t_prep2.png"/>
          <p:cNvPicPr>
            <a:picLocks noChangeAspect="1"/>
          </p:cNvPicPr>
          <p:nvPr/>
        </p:nvPicPr>
        <p:blipFill>
          <a:blip r:embed="rId10"/>
          <a:stretch>
            <a:fillRect/>
          </a:stretch>
        </p:blipFill>
        <p:spPr>
          <a:xfrm>
            <a:off x="3845623" y="1547774"/>
            <a:ext cx="857229" cy="928664"/>
          </a:xfrm>
          <a:prstGeom prst="rect">
            <a:avLst/>
          </a:prstGeom>
        </p:spPr>
      </p:pic>
      <p:sp>
        <p:nvSpPr>
          <p:cNvPr id="31" name="Shape 21"/>
          <p:cNvSpPr/>
          <p:nvPr/>
        </p:nvSpPr>
        <p:spPr>
          <a:xfrm>
            <a:off x="4726663" y="1928764"/>
            <a:ext cx="190495" cy="166683"/>
          </a:xfrm>
          <a:prstGeom prst="rightArrow">
            <a:avLst/>
          </a:prstGeom>
          <a:solidFill>
            <a:srgbClr val="0D2A55"/>
          </a:solidFill>
          <a:ln/>
        </p:spPr>
      </p:sp>
      <p:sp>
        <p:nvSpPr>
          <p:cNvPr id="32" name="Text 22"/>
          <p:cNvSpPr/>
          <p:nvPr/>
        </p:nvSpPr>
        <p:spPr>
          <a:xfrm>
            <a:off x="4917158" y="1357279"/>
            <a:ext cx="857229" cy="166683"/>
          </a:xfrm>
          <a:prstGeom prst="rect">
            <a:avLst/>
          </a:prstGeom>
          <a:noFill/>
          <a:ln/>
        </p:spPr>
        <p:txBody>
          <a:bodyPr wrap="square" lIns="0" tIns="0" rIns="0" bIns="0" rtlCol="0" anchor="ctr"/>
          <a:lstStyle/>
          <a:p>
            <a:pPr marL="0" indent="0" algn="ctr">
              <a:buNone/>
            </a:pPr>
            <a:r>
              <a:rPr lang="en-US" sz="800" b="1" dirty="0">
                <a:solidFill>
                  <a:srgbClr val="1A1A2E"/>
                </a:solidFill>
                <a:latin typeface="Arial" pitchFamily="34" charset="0"/>
                <a:ea typeface="Arial" pitchFamily="34" charset="-122"/>
                <a:cs typeface="Arial" pitchFamily="34" charset="-120"/>
              </a:rPr>
              <a:t>Grayscale</a:t>
            </a:r>
            <a:endParaRPr lang="en-US" sz="800" dirty="0"/>
          </a:p>
        </p:txBody>
      </p:sp>
      <p:pic>
        <p:nvPicPr>
          <p:cNvPr id="33" name="Image 8" descr="assets_sat/t_prep3.png"/>
          <p:cNvPicPr>
            <a:picLocks noChangeAspect="1"/>
          </p:cNvPicPr>
          <p:nvPr/>
        </p:nvPicPr>
        <p:blipFill>
          <a:blip r:embed="rId11"/>
          <a:stretch>
            <a:fillRect/>
          </a:stretch>
        </p:blipFill>
        <p:spPr>
          <a:xfrm>
            <a:off x="4917158" y="1547774"/>
            <a:ext cx="857229" cy="928664"/>
          </a:xfrm>
          <a:prstGeom prst="rect">
            <a:avLst/>
          </a:prstGeom>
        </p:spPr>
      </p:pic>
      <p:sp>
        <p:nvSpPr>
          <p:cNvPr id="34" name="Shape 23"/>
          <p:cNvSpPr/>
          <p:nvPr/>
        </p:nvSpPr>
        <p:spPr>
          <a:xfrm>
            <a:off x="5798199" y="1928764"/>
            <a:ext cx="190495" cy="166683"/>
          </a:xfrm>
          <a:prstGeom prst="rightArrow">
            <a:avLst/>
          </a:prstGeom>
          <a:solidFill>
            <a:srgbClr val="0D2A55"/>
          </a:solidFill>
          <a:ln/>
        </p:spPr>
      </p:sp>
      <p:sp>
        <p:nvSpPr>
          <p:cNvPr id="35" name="Text 24"/>
          <p:cNvSpPr/>
          <p:nvPr/>
        </p:nvSpPr>
        <p:spPr>
          <a:xfrm>
            <a:off x="5988694" y="1357279"/>
            <a:ext cx="857229" cy="166683"/>
          </a:xfrm>
          <a:prstGeom prst="rect">
            <a:avLst/>
          </a:prstGeom>
          <a:noFill/>
          <a:ln/>
        </p:spPr>
        <p:txBody>
          <a:bodyPr wrap="square" lIns="0" tIns="0" rIns="0" bIns="0" rtlCol="0" anchor="ctr"/>
          <a:lstStyle/>
          <a:p>
            <a:pPr marL="0" indent="0" algn="ctr">
              <a:buNone/>
            </a:pPr>
            <a:r>
              <a:rPr lang="en-US" sz="800" b="1" dirty="0">
                <a:solidFill>
                  <a:srgbClr val="1A1A2E"/>
                </a:solidFill>
                <a:latin typeface="Arial" pitchFamily="34" charset="0"/>
                <a:ea typeface="Arial" pitchFamily="34" charset="-122"/>
                <a:cs typeface="Arial" pitchFamily="34" charset="-120"/>
              </a:rPr>
              <a:t>Gaussian Blur</a:t>
            </a:r>
            <a:endParaRPr lang="en-US" sz="800" dirty="0"/>
          </a:p>
        </p:txBody>
      </p:sp>
      <p:pic>
        <p:nvPicPr>
          <p:cNvPr id="36" name="Image 9" descr="assets_sat/t_prep4.png"/>
          <p:cNvPicPr>
            <a:picLocks noChangeAspect="1"/>
          </p:cNvPicPr>
          <p:nvPr/>
        </p:nvPicPr>
        <p:blipFill>
          <a:blip r:embed="rId12"/>
          <a:stretch>
            <a:fillRect/>
          </a:stretch>
        </p:blipFill>
        <p:spPr>
          <a:xfrm>
            <a:off x="5988694" y="1547774"/>
            <a:ext cx="857229" cy="928664"/>
          </a:xfrm>
          <a:prstGeom prst="rect">
            <a:avLst/>
          </a:prstGeom>
        </p:spPr>
      </p:pic>
      <p:sp>
        <p:nvSpPr>
          <p:cNvPr id="37" name="Shape 25"/>
          <p:cNvSpPr/>
          <p:nvPr/>
        </p:nvSpPr>
        <p:spPr>
          <a:xfrm>
            <a:off x="6869735" y="1928764"/>
            <a:ext cx="190495" cy="166683"/>
          </a:xfrm>
          <a:prstGeom prst="rightArrow">
            <a:avLst/>
          </a:prstGeom>
          <a:solidFill>
            <a:srgbClr val="0D2A55"/>
          </a:solidFill>
          <a:ln/>
        </p:spPr>
      </p:sp>
      <p:sp>
        <p:nvSpPr>
          <p:cNvPr id="38" name="Text 26"/>
          <p:cNvSpPr/>
          <p:nvPr/>
        </p:nvSpPr>
        <p:spPr>
          <a:xfrm>
            <a:off x="7060230" y="1357279"/>
            <a:ext cx="857229" cy="166683"/>
          </a:xfrm>
          <a:prstGeom prst="rect">
            <a:avLst/>
          </a:prstGeom>
          <a:noFill/>
          <a:ln/>
        </p:spPr>
        <p:txBody>
          <a:bodyPr wrap="square" lIns="0" tIns="0" rIns="0" bIns="0" rtlCol="0" anchor="ctr"/>
          <a:lstStyle/>
          <a:p>
            <a:pPr marL="0" indent="0" algn="ctr">
              <a:buNone/>
            </a:pPr>
            <a:r>
              <a:rPr lang="en-US" sz="800" b="1" dirty="0">
                <a:solidFill>
                  <a:srgbClr val="1A1A2E"/>
                </a:solidFill>
                <a:latin typeface="Arial" pitchFamily="34" charset="0"/>
                <a:ea typeface="Arial" pitchFamily="34" charset="-122"/>
                <a:cs typeface="Arial" pitchFamily="34" charset="-120"/>
              </a:rPr>
              <a:t>Edge Detection</a:t>
            </a:r>
            <a:endParaRPr lang="en-US" sz="800" dirty="0"/>
          </a:p>
        </p:txBody>
      </p:sp>
      <p:pic>
        <p:nvPicPr>
          <p:cNvPr id="39" name="Image 10" descr="assets_sat/t_prep5.png"/>
          <p:cNvPicPr>
            <a:picLocks noChangeAspect="1"/>
          </p:cNvPicPr>
          <p:nvPr/>
        </p:nvPicPr>
        <p:blipFill>
          <a:blip r:embed="rId13"/>
          <a:stretch>
            <a:fillRect/>
          </a:stretch>
        </p:blipFill>
        <p:spPr>
          <a:xfrm>
            <a:off x="7060230" y="1547774"/>
            <a:ext cx="857229" cy="928664"/>
          </a:xfrm>
          <a:prstGeom prst="rect">
            <a:avLst/>
          </a:prstGeom>
        </p:spPr>
      </p:pic>
      <p:sp>
        <p:nvSpPr>
          <p:cNvPr id="40" name="Shape 27"/>
          <p:cNvSpPr/>
          <p:nvPr/>
        </p:nvSpPr>
        <p:spPr>
          <a:xfrm>
            <a:off x="2619310" y="2809805"/>
            <a:ext cx="5536268" cy="1285843"/>
          </a:xfrm>
          <a:prstGeom prst="roundRect">
            <a:avLst>
              <a:gd name="adj" fmla="val 3556"/>
            </a:avLst>
          </a:prstGeom>
          <a:solidFill>
            <a:srgbClr val="F2F8EF"/>
          </a:solidFill>
          <a:ln w="9525">
            <a:solidFill>
              <a:srgbClr val="E67E22"/>
            </a:solidFill>
            <a:prstDash val="solid"/>
          </a:ln>
        </p:spPr>
      </p:sp>
      <p:sp>
        <p:nvSpPr>
          <p:cNvPr id="41" name="Text 28"/>
          <p:cNvSpPr/>
          <p:nvPr/>
        </p:nvSpPr>
        <p:spPr>
          <a:xfrm>
            <a:off x="2619310" y="2857429"/>
            <a:ext cx="5536268" cy="190495"/>
          </a:xfrm>
          <a:prstGeom prst="rect">
            <a:avLst/>
          </a:prstGeom>
          <a:noFill/>
          <a:ln/>
        </p:spPr>
        <p:txBody>
          <a:bodyPr wrap="square" lIns="0" tIns="0" rIns="0" bIns="0" rtlCol="0" anchor="ctr"/>
          <a:lstStyle/>
          <a:p>
            <a:pPr marL="0" indent="0" algn="ctr">
              <a:buNone/>
            </a:pPr>
            <a:r>
              <a:rPr lang="en-US" sz="1000" b="1" dirty="0">
                <a:solidFill>
                  <a:srgbClr val="E67E22"/>
                </a:solidFill>
                <a:latin typeface="Arial" pitchFamily="34" charset="0"/>
                <a:ea typeface="Arial" pitchFamily="34" charset="-122"/>
                <a:cs typeface="Arial" pitchFamily="34" charset="-120"/>
              </a:rPr>
              <a:t>2. ANALYTICS TASKS</a:t>
            </a:r>
            <a:endParaRPr lang="en-US" sz="1000" dirty="0"/>
          </a:p>
        </p:txBody>
      </p:sp>
      <p:sp>
        <p:nvSpPr>
          <p:cNvPr id="42" name="Shape 29"/>
          <p:cNvSpPr/>
          <p:nvPr/>
        </p:nvSpPr>
        <p:spPr>
          <a:xfrm>
            <a:off x="2797899" y="3119360"/>
            <a:ext cx="1059630" cy="928664"/>
          </a:xfrm>
          <a:prstGeom prst="roundRect">
            <a:avLst>
              <a:gd name="adj" fmla="val 4923"/>
            </a:avLst>
          </a:prstGeom>
          <a:solidFill>
            <a:srgbClr val="FFFFFF"/>
          </a:solidFill>
          <a:ln w="9525">
            <a:solidFill>
              <a:srgbClr val="2E7D32"/>
            </a:solidFill>
            <a:prstDash val="solid"/>
          </a:ln>
        </p:spPr>
      </p:sp>
      <p:sp>
        <p:nvSpPr>
          <p:cNvPr id="43" name="Text 30"/>
          <p:cNvSpPr/>
          <p:nvPr/>
        </p:nvSpPr>
        <p:spPr>
          <a:xfrm>
            <a:off x="2845523" y="3143171"/>
            <a:ext cx="964382" cy="261931"/>
          </a:xfrm>
          <a:prstGeom prst="rect">
            <a:avLst/>
          </a:prstGeom>
          <a:noFill/>
          <a:ln/>
        </p:spPr>
        <p:txBody>
          <a:bodyPr wrap="square" lIns="0" tIns="0" rIns="0" bIns="0" rtlCol="0" anchor="ctr"/>
          <a:lstStyle/>
          <a:p>
            <a:pPr marL="0" indent="0" algn="ctr">
              <a:buNone/>
            </a:pPr>
            <a:r>
              <a:rPr lang="en-US" sz="750" b="1" dirty="0">
                <a:solidFill>
                  <a:srgbClr val="1A1A2E"/>
                </a:solidFill>
                <a:latin typeface="Arial" pitchFamily="34" charset="0"/>
                <a:ea typeface="Arial" pitchFamily="34" charset="-122"/>
                <a:cs typeface="Arial" pitchFamily="34" charset="-120"/>
              </a:rPr>
              <a:t>Urban Area</a:t>
            </a:r>
            <a:endParaRPr lang="en-US" sz="750" dirty="0"/>
          </a:p>
          <a:p>
            <a:pPr marL="0" indent="0" algn="ctr">
              <a:buNone/>
            </a:pPr>
            <a:r>
              <a:rPr lang="en-US" sz="750" b="1" dirty="0">
                <a:solidFill>
                  <a:srgbClr val="1A1A2E"/>
                </a:solidFill>
                <a:latin typeface="Arial" pitchFamily="34" charset="0"/>
                <a:ea typeface="Arial" pitchFamily="34" charset="-122"/>
                <a:cs typeface="Arial" pitchFamily="34" charset="-120"/>
              </a:rPr>
              <a:t>Detection</a:t>
            </a:r>
            <a:endParaRPr lang="en-US" sz="750" dirty="0"/>
          </a:p>
        </p:txBody>
      </p:sp>
      <p:pic>
        <p:nvPicPr>
          <p:cNvPr id="44" name="Image 11" descr="assets_sat/t_urban_area.png"/>
          <p:cNvPicPr>
            <a:picLocks noChangeAspect="1"/>
          </p:cNvPicPr>
          <p:nvPr/>
        </p:nvPicPr>
        <p:blipFill>
          <a:blip r:embed="rId14"/>
          <a:stretch>
            <a:fillRect/>
          </a:stretch>
        </p:blipFill>
        <p:spPr>
          <a:xfrm>
            <a:off x="2845523" y="3405102"/>
            <a:ext cx="964382" cy="595298"/>
          </a:xfrm>
          <a:prstGeom prst="rect">
            <a:avLst/>
          </a:prstGeom>
        </p:spPr>
      </p:pic>
      <p:sp>
        <p:nvSpPr>
          <p:cNvPr id="45" name="Shape 31"/>
          <p:cNvSpPr/>
          <p:nvPr/>
        </p:nvSpPr>
        <p:spPr>
          <a:xfrm>
            <a:off x="3893246" y="3119360"/>
            <a:ext cx="1059630" cy="928664"/>
          </a:xfrm>
          <a:prstGeom prst="roundRect">
            <a:avLst>
              <a:gd name="adj" fmla="val 4923"/>
            </a:avLst>
          </a:prstGeom>
          <a:solidFill>
            <a:srgbClr val="FFFFFF"/>
          </a:solidFill>
          <a:ln w="9525">
            <a:solidFill>
              <a:srgbClr val="2E7D32"/>
            </a:solidFill>
            <a:prstDash val="solid"/>
          </a:ln>
        </p:spPr>
      </p:sp>
      <p:sp>
        <p:nvSpPr>
          <p:cNvPr id="46" name="Text 32"/>
          <p:cNvSpPr/>
          <p:nvPr/>
        </p:nvSpPr>
        <p:spPr>
          <a:xfrm>
            <a:off x="3940870" y="3143171"/>
            <a:ext cx="964382" cy="261931"/>
          </a:xfrm>
          <a:prstGeom prst="rect">
            <a:avLst/>
          </a:prstGeom>
          <a:noFill/>
          <a:ln/>
        </p:spPr>
        <p:txBody>
          <a:bodyPr wrap="square" lIns="0" tIns="0" rIns="0" bIns="0" rtlCol="0" anchor="ctr"/>
          <a:lstStyle/>
          <a:p>
            <a:pPr marL="0" indent="0" algn="ctr">
              <a:buNone/>
            </a:pPr>
            <a:r>
              <a:rPr lang="en-US" sz="750" b="1" dirty="0">
                <a:solidFill>
                  <a:srgbClr val="1A1A2E"/>
                </a:solidFill>
                <a:latin typeface="Arial" pitchFamily="34" charset="0"/>
                <a:ea typeface="Arial" pitchFamily="34" charset="-122"/>
                <a:cs typeface="Arial" pitchFamily="34" charset="-120"/>
              </a:rPr>
              <a:t>Ship &amp;</a:t>
            </a:r>
            <a:endParaRPr lang="en-US" sz="750" dirty="0"/>
          </a:p>
          <a:p>
            <a:pPr marL="0" indent="0" algn="ctr">
              <a:buNone/>
            </a:pPr>
            <a:r>
              <a:rPr lang="en-US" sz="750" b="1" dirty="0">
                <a:solidFill>
                  <a:srgbClr val="1A1A2E"/>
                </a:solidFill>
                <a:latin typeface="Arial" pitchFamily="34" charset="0"/>
                <a:ea typeface="Arial" pitchFamily="34" charset="-122"/>
                <a:cs typeface="Arial" pitchFamily="34" charset="-120"/>
              </a:rPr>
              <a:t>Vehicle Detec.</a:t>
            </a:r>
            <a:endParaRPr lang="en-US" sz="750" dirty="0"/>
          </a:p>
        </p:txBody>
      </p:sp>
      <p:pic>
        <p:nvPicPr>
          <p:cNvPr id="47" name="Image 12" descr="assets_sat/t_ship_vehicle.png"/>
          <p:cNvPicPr>
            <a:picLocks noChangeAspect="1"/>
          </p:cNvPicPr>
          <p:nvPr/>
        </p:nvPicPr>
        <p:blipFill>
          <a:blip r:embed="rId15"/>
          <a:stretch>
            <a:fillRect/>
          </a:stretch>
        </p:blipFill>
        <p:spPr>
          <a:xfrm>
            <a:off x="3940870" y="3405102"/>
            <a:ext cx="964382" cy="595298"/>
          </a:xfrm>
          <a:prstGeom prst="rect">
            <a:avLst/>
          </a:prstGeom>
        </p:spPr>
      </p:pic>
      <p:sp>
        <p:nvSpPr>
          <p:cNvPr id="48" name="Shape 33"/>
          <p:cNvSpPr/>
          <p:nvPr/>
        </p:nvSpPr>
        <p:spPr>
          <a:xfrm>
            <a:off x="4988594" y="3119360"/>
            <a:ext cx="1059630" cy="928664"/>
          </a:xfrm>
          <a:prstGeom prst="roundRect">
            <a:avLst>
              <a:gd name="adj" fmla="val 4923"/>
            </a:avLst>
          </a:prstGeom>
          <a:solidFill>
            <a:srgbClr val="FFFFFF"/>
          </a:solidFill>
          <a:ln w="9525">
            <a:solidFill>
              <a:srgbClr val="2E7D32"/>
            </a:solidFill>
            <a:prstDash val="solid"/>
          </a:ln>
        </p:spPr>
      </p:sp>
      <p:sp>
        <p:nvSpPr>
          <p:cNvPr id="49" name="Text 34"/>
          <p:cNvSpPr/>
          <p:nvPr/>
        </p:nvSpPr>
        <p:spPr>
          <a:xfrm>
            <a:off x="5036218" y="3143171"/>
            <a:ext cx="964382" cy="261931"/>
          </a:xfrm>
          <a:prstGeom prst="rect">
            <a:avLst/>
          </a:prstGeom>
          <a:noFill/>
          <a:ln/>
        </p:spPr>
        <p:txBody>
          <a:bodyPr wrap="square" lIns="0" tIns="0" rIns="0" bIns="0" rtlCol="0" anchor="ctr"/>
          <a:lstStyle/>
          <a:p>
            <a:pPr marL="0" indent="0" algn="ctr">
              <a:buNone/>
            </a:pPr>
            <a:r>
              <a:rPr lang="en-US" sz="750" b="1" dirty="0">
                <a:solidFill>
                  <a:srgbClr val="1A1A2E"/>
                </a:solidFill>
                <a:latin typeface="Arial" pitchFamily="34" charset="0"/>
                <a:ea typeface="Arial" pitchFamily="34" charset="-122"/>
                <a:cs typeface="Arial" pitchFamily="34" charset="-120"/>
              </a:rPr>
              <a:t>Urban Growth</a:t>
            </a:r>
            <a:endParaRPr lang="en-US" sz="750" dirty="0"/>
          </a:p>
          <a:p>
            <a:pPr marL="0" indent="0" algn="ctr">
              <a:buNone/>
            </a:pPr>
            <a:r>
              <a:rPr lang="en-US" sz="750" b="1" dirty="0">
                <a:solidFill>
                  <a:srgbClr val="1A1A2E"/>
                </a:solidFill>
                <a:latin typeface="Arial" pitchFamily="34" charset="0"/>
                <a:ea typeface="Arial" pitchFamily="34" charset="-122"/>
                <a:cs typeface="Arial" pitchFamily="34" charset="-120"/>
              </a:rPr>
              <a:t>Monitor.</a:t>
            </a:r>
            <a:endParaRPr lang="en-US" sz="750" dirty="0"/>
          </a:p>
        </p:txBody>
      </p:sp>
      <p:pic>
        <p:nvPicPr>
          <p:cNvPr id="50" name="Image 13" descr="assets_sat/t_urban_growth.png"/>
          <p:cNvPicPr>
            <a:picLocks noChangeAspect="1"/>
          </p:cNvPicPr>
          <p:nvPr/>
        </p:nvPicPr>
        <p:blipFill>
          <a:blip r:embed="rId16"/>
          <a:stretch>
            <a:fillRect/>
          </a:stretch>
        </p:blipFill>
        <p:spPr>
          <a:xfrm>
            <a:off x="5036218" y="3405102"/>
            <a:ext cx="964382" cy="595298"/>
          </a:xfrm>
          <a:prstGeom prst="rect">
            <a:avLst/>
          </a:prstGeom>
        </p:spPr>
      </p:pic>
      <p:sp>
        <p:nvSpPr>
          <p:cNvPr id="51" name="Shape 35"/>
          <p:cNvSpPr/>
          <p:nvPr/>
        </p:nvSpPr>
        <p:spPr>
          <a:xfrm>
            <a:off x="6083942" y="3119360"/>
            <a:ext cx="1059630" cy="928664"/>
          </a:xfrm>
          <a:prstGeom prst="roundRect">
            <a:avLst>
              <a:gd name="adj" fmla="val 4923"/>
            </a:avLst>
          </a:prstGeom>
          <a:solidFill>
            <a:srgbClr val="FFFFFF"/>
          </a:solidFill>
          <a:ln w="9525">
            <a:solidFill>
              <a:srgbClr val="2E7D32"/>
            </a:solidFill>
            <a:prstDash val="solid"/>
          </a:ln>
        </p:spPr>
      </p:sp>
      <p:sp>
        <p:nvSpPr>
          <p:cNvPr id="52" name="Text 36"/>
          <p:cNvSpPr/>
          <p:nvPr/>
        </p:nvSpPr>
        <p:spPr>
          <a:xfrm>
            <a:off x="6131565" y="3143171"/>
            <a:ext cx="964382" cy="261931"/>
          </a:xfrm>
          <a:prstGeom prst="rect">
            <a:avLst/>
          </a:prstGeom>
          <a:noFill/>
          <a:ln/>
        </p:spPr>
        <p:txBody>
          <a:bodyPr wrap="square" lIns="0" tIns="0" rIns="0" bIns="0" rtlCol="0" anchor="ctr"/>
          <a:lstStyle/>
          <a:p>
            <a:pPr marL="0" indent="0" algn="ctr">
              <a:buNone/>
            </a:pPr>
            <a:r>
              <a:rPr lang="en-US" sz="750" b="1" dirty="0">
                <a:solidFill>
                  <a:srgbClr val="1A1A2E"/>
                </a:solidFill>
                <a:latin typeface="Arial" pitchFamily="34" charset="0"/>
                <a:ea typeface="Arial" pitchFamily="34" charset="-122"/>
                <a:cs typeface="Arial" pitchFamily="34" charset="-120"/>
              </a:rPr>
              <a:t>Crop Type</a:t>
            </a:r>
            <a:endParaRPr lang="en-US" sz="750" dirty="0"/>
          </a:p>
          <a:p>
            <a:pPr marL="0" indent="0" algn="ctr">
              <a:buNone/>
            </a:pPr>
            <a:r>
              <a:rPr lang="en-US" sz="750" b="1" dirty="0">
                <a:solidFill>
                  <a:srgbClr val="1A1A2E"/>
                </a:solidFill>
                <a:latin typeface="Arial" pitchFamily="34" charset="0"/>
                <a:ea typeface="Arial" pitchFamily="34" charset="-122"/>
                <a:cs typeface="Arial" pitchFamily="34" charset="-120"/>
              </a:rPr>
              <a:t>Identification</a:t>
            </a:r>
            <a:endParaRPr lang="en-US" sz="750" dirty="0"/>
          </a:p>
        </p:txBody>
      </p:sp>
      <p:pic>
        <p:nvPicPr>
          <p:cNvPr id="53" name="Image 14" descr="assets_sat/t_crop_id.png"/>
          <p:cNvPicPr>
            <a:picLocks noChangeAspect="1"/>
          </p:cNvPicPr>
          <p:nvPr/>
        </p:nvPicPr>
        <p:blipFill>
          <a:blip r:embed="rId17"/>
          <a:stretch>
            <a:fillRect/>
          </a:stretch>
        </p:blipFill>
        <p:spPr>
          <a:xfrm>
            <a:off x="6131565" y="3405102"/>
            <a:ext cx="964382" cy="595298"/>
          </a:xfrm>
          <a:prstGeom prst="rect">
            <a:avLst/>
          </a:prstGeom>
        </p:spPr>
      </p:pic>
      <p:sp>
        <p:nvSpPr>
          <p:cNvPr id="54" name="Shape 37"/>
          <p:cNvSpPr/>
          <p:nvPr/>
        </p:nvSpPr>
        <p:spPr>
          <a:xfrm>
            <a:off x="7179289" y="3119360"/>
            <a:ext cx="1059630" cy="928664"/>
          </a:xfrm>
          <a:prstGeom prst="roundRect">
            <a:avLst>
              <a:gd name="adj" fmla="val 4923"/>
            </a:avLst>
          </a:prstGeom>
          <a:solidFill>
            <a:srgbClr val="FFFFFF"/>
          </a:solidFill>
          <a:ln w="9525">
            <a:solidFill>
              <a:srgbClr val="2E7D32"/>
            </a:solidFill>
            <a:prstDash val="solid"/>
          </a:ln>
        </p:spPr>
      </p:sp>
      <p:sp>
        <p:nvSpPr>
          <p:cNvPr id="55" name="Text 38"/>
          <p:cNvSpPr/>
          <p:nvPr/>
        </p:nvSpPr>
        <p:spPr>
          <a:xfrm>
            <a:off x="7226913" y="3143171"/>
            <a:ext cx="964382" cy="261931"/>
          </a:xfrm>
          <a:prstGeom prst="rect">
            <a:avLst/>
          </a:prstGeom>
          <a:noFill/>
          <a:ln/>
        </p:spPr>
        <p:txBody>
          <a:bodyPr wrap="square" lIns="0" tIns="0" rIns="0" bIns="0" rtlCol="0" anchor="ctr"/>
          <a:lstStyle/>
          <a:p>
            <a:pPr marL="0" indent="0" algn="ctr">
              <a:buNone/>
            </a:pPr>
            <a:r>
              <a:rPr lang="en-US" sz="750" b="1" dirty="0">
                <a:solidFill>
                  <a:srgbClr val="1A1A2E"/>
                </a:solidFill>
                <a:latin typeface="Arial" pitchFamily="34" charset="0"/>
                <a:ea typeface="Arial" pitchFamily="34" charset="-122"/>
                <a:cs typeface="Arial" pitchFamily="34" charset="-120"/>
              </a:rPr>
              <a:t>Weather &amp;</a:t>
            </a:r>
            <a:endParaRPr lang="en-US" sz="750" dirty="0"/>
          </a:p>
          <a:p>
            <a:pPr marL="0" indent="0" algn="ctr">
              <a:buNone/>
            </a:pPr>
            <a:r>
              <a:rPr lang="en-US" sz="750" b="1" dirty="0">
                <a:solidFill>
                  <a:srgbClr val="1A1A2E"/>
                </a:solidFill>
                <a:latin typeface="Arial" pitchFamily="34" charset="0"/>
                <a:ea typeface="Arial" pitchFamily="34" charset="-122"/>
                <a:cs typeface="Arial" pitchFamily="34" charset="-120"/>
              </a:rPr>
              <a:t>Environmental</a:t>
            </a:r>
            <a:endParaRPr lang="en-US" sz="750" dirty="0"/>
          </a:p>
          <a:p>
            <a:pPr marL="0" indent="0" algn="ctr">
              <a:buNone/>
            </a:pPr>
            <a:r>
              <a:rPr lang="en-US" sz="750" b="1" dirty="0">
                <a:solidFill>
                  <a:srgbClr val="1A1A2E"/>
                </a:solidFill>
                <a:latin typeface="Arial" pitchFamily="34" charset="0"/>
                <a:ea typeface="Arial" pitchFamily="34" charset="-122"/>
                <a:cs typeface="Arial" pitchFamily="34" charset="-120"/>
              </a:rPr>
              <a:t>Monitor.</a:t>
            </a:r>
            <a:endParaRPr lang="en-US" sz="750" dirty="0"/>
          </a:p>
        </p:txBody>
      </p:sp>
      <p:pic>
        <p:nvPicPr>
          <p:cNvPr id="56" name="Image 15" descr="assets_sat/t_weather.png"/>
          <p:cNvPicPr>
            <a:picLocks noChangeAspect="1"/>
          </p:cNvPicPr>
          <p:nvPr/>
        </p:nvPicPr>
        <p:blipFill>
          <a:blip r:embed="rId18"/>
          <a:stretch>
            <a:fillRect/>
          </a:stretch>
        </p:blipFill>
        <p:spPr>
          <a:xfrm>
            <a:off x="7226913" y="3405102"/>
            <a:ext cx="964382" cy="595298"/>
          </a:xfrm>
          <a:prstGeom prst="rect">
            <a:avLst/>
          </a:prstGeom>
        </p:spPr>
      </p:pic>
      <p:sp>
        <p:nvSpPr>
          <p:cNvPr id="57" name="Shape 39"/>
          <p:cNvSpPr/>
          <p:nvPr/>
        </p:nvSpPr>
        <p:spPr>
          <a:xfrm>
            <a:off x="8727063" y="750075"/>
            <a:ext cx="3333667" cy="3190795"/>
          </a:xfrm>
          <a:prstGeom prst="roundRect">
            <a:avLst>
              <a:gd name="adj" fmla="val 1433"/>
            </a:avLst>
          </a:prstGeom>
          <a:solidFill>
            <a:srgbClr val="EEF3FC"/>
          </a:solidFill>
          <a:ln w="15875">
            <a:solidFill>
              <a:srgbClr val="2255A4"/>
            </a:solidFill>
            <a:prstDash val="solid"/>
          </a:ln>
        </p:spPr>
      </p:sp>
      <p:sp>
        <p:nvSpPr>
          <p:cNvPr id="58" name="Text 40"/>
          <p:cNvSpPr/>
          <p:nvPr/>
        </p:nvSpPr>
        <p:spPr>
          <a:xfrm>
            <a:off x="8727063" y="809605"/>
            <a:ext cx="3333667" cy="238119"/>
          </a:xfrm>
          <a:prstGeom prst="rect">
            <a:avLst/>
          </a:prstGeom>
          <a:noFill/>
          <a:ln/>
        </p:spPr>
        <p:txBody>
          <a:bodyPr wrap="square" lIns="0" tIns="0" rIns="0" bIns="0" rtlCol="0" anchor="ctr"/>
          <a:lstStyle/>
          <a:p>
            <a:pPr marL="0" indent="0" algn="ctr">
              <a:buNone/>
            </a:pPr>
            <a:r>
              <a:rPr lang="en-US" sz="1300" b="1" dirty="0">
                <a:solidFill>
                  <a:srgbClr val="2255A4"/>
                </a:solidFill>
                <a:latin typeface="Arial" pitchFamily="34" charset="0"/>
                <a:ea typeface="Arial" pitchFamily="34" charset="-122"/>
                <a:cs typeface="Arial" pitchFamily="34" charset="-120"/>
              </a:rPr>
              <a:t>MISSION PLANNING</a:t>
            </a:r>
            <a:endParaRPr lang="en-US" sz="1300" dirty="0"/>
          </a:p>
        </p:txBody>
      </p:sp>
      <p:sp>
        <p:nvSpPr>
          <p:cNvPr id="59" name="Shape 41"/>
          <p:cNvSpPr/>
          <p:nvPr/>
        </p:nvSpPr>
        <p:spPr>
          <a:xfrm>
            <a:off x="8810405" y="1166783"/>
            <a:ext cx="1012006" cy="1333467"/>
          </a:xfrm>
          <a:prstGeom prst="roundRect">
            <a:avLst>
              <a:gd name="adj" fmla="val 4518"/>
            </a:avLst>
          </a:prstGeom>
          <a:solidFill>
            <a:srgbClr val="FFFFFF"/>
          </a:solidFill>
          <a:ln w="9525">
            <a:solidFill>
              <a:srgbClr val="2255A4"/>
            </a:solidFill>
            <a:prstDash val="solid"/>
          </a:ln>
        </p:spPr>
      </p:sp>
      <p:pic>
        <p:nvPicPr>
          <p:cNvPr id="60" name="Image 16" descr="assets_sat/t_orbitplan_icon.png"/>
          <p:cNvPicPr>
            <a:picLocks noChangeAspect="1"/>
          </p:cNvPicPr>
          <p:nvPr/>
        </p:nvPicPr>
        <p:blipFill>
          <a:blip r:embed="rId19"/>
          <a:stretch>
            <a:fillRect/>
          </a:stretch>
        </p:blipFill>
        <p:spPr>
          <a:xfrm>
            <a:off x="8881840" y="1214407"/>
            <a:ext cx="869135" cy="809605"/>
          </a:xfrm>
          <a:prstGeom prst="rect">
            <a:avLst/>
          </a:prstGeom>
        </p:spPr>
      </p:pic>
      <p:sp>
        <p:nvSpPr>
          <p:cNvPr id="61" name="Text 42"/>
          <p:cNvSpPr/>
          <p:nvPr/>
        </p:nvSpPr>
        <p:spPr>
          <a:xfrm>
            <a:off x="8810405" y="2071636"/>
            <a:ext cx="1012006" cy="357179"/>
          </a:xfrm>
          <a:prstGeom prst="rect">
            <a:avLst/>
          </a:prstGeom>
          <a:noFill/>
          <a:ln/>
        </p:spPr>
        <p:txBody>
          <a:bodyPr wrap="square" lIns="0" tIns="0" rIns="0" bIns="0" rtlCol="0" anchor="ctr"/>
          <a:lstStyle/>
          <a:p>
            <a:pPr marL="0" indent="0" algn="ctr">
              <a:buNone/>
            </a:pPr>
            <a:r>
              <a:rPr lang="en-US" sz="850" b="1" dirty="0">
                <a:solidFill>
                  <a:srgbClr val="1A1A2E"/>
                </a:solidFill>
                <a:latin typeface="Arial" pitchFamily="34" charset="0"/>
                <a:ea typeface="Arial" pitchFamily="34" charset="-122"/>
                <a:cs typeface="Arial" pitchFamily="34" charset="-120"/>
              </a:rPr>
              <a:t>Orbit</a:t>
            </a:r>
            <a:endParaRPr lang="en-US" sz="850" dirty="0"/>
          </a:p>
          <a:p>
            <a:pPr marL="0" indent="0" algn="ctr">
              <a:buNone/>
            </a:pPr>
            <a:r>
              <a:rPr lang="en-US" sz="850" b="1" dirty="0">
                <a:solidFill>
                  <a:srgbClr val="1A1A2E"/>
                </a:solidFill>
                <a:latin typeface="Arial" pitchFamily="34" charset="0"/>
                <a:ea typeface="Arial" pitchFamily="34" charset="-122"/>
                <a:cs typeface="Arial" pitchFamily="34" charset="-120"/>
              </a:rPr>
              <a:t>Planning</a:t>
            </a:r>
            <a:endParaRPr lang="en-US" sz="850" dirty="0"/>
          </a:p>
        </p:txBody>
      </p:sp>
      <p:sp>
        <p:nvSpPr>
          <p:cNvPr id="62" name="Shape 43"/>
          <p:cNvSpPr/>
          <p:nvPr/>
        </p:nvSpPr>
        <p:spPr>
          <a:xfrm>
            <a:off x="9881940" y="1166783"/>
            <a:ext cx="1012006" cy="1333467"/>
          </a:xfrm>
          <a:prstGeom prst="roundRect">
            <a:avLst>
              <a:gd name="adj" fmla="val 4518"/>
            </a:avLst>
          </a:prstGeom>
          <a:solidFill>
            <a:srgbClr val="FFFFFF"/>
          </a:solidFill>
          <a:ln w="9525">
            <a:solidFill>
              <a:srgbClr val="2255A4"/>
            </a:solidFill>
            <a:prstDash val="solid"/>
          </a:ln>
        </p:spPr>
      </p:sp>
      <p:pic>
        <p:nvPicPr>
          <p:cNvPr id="63" name="Image 17" descr="assets_sat/t_scanpath_icon.png"/>
          <p:cNvPicPr>
            <a:picLocks noChangeAspect="1"/>
          </p:cNvPicPr>
          <p:nvPr/>
        </p:nvPicPr>
        <p:blipFill>
          <a:blip r:embed="rId20"/>
          <a:stretch>
            <a:fillRect/>
          </a:stretch>
        </p:blipFill>
        <p:spPr>
          <a:xfrm>
            <a:off x="9953376" y="1214407"/>
            <a:ext cx="869135" cy="809605"/>
          </a:xfrm>
          <a:prstGeom prst="rect">
            <a:avLst/>
          </a:prstGeom>
        </p:spPr>
      </p:pic>
      <p:sp>
        <p:nvSpPr>
          <p:cNvPr id="64" name="Text 44"/>
          <p:cNvSpPr/>
          <p:nvPr/>
        </p:nvSpPr>
        <p:spPr>
          <a:xfrm>
            <a:off x="9881940" y="2071636"/>
            <a:ext cx="1012006" cy="357179"/>
          </a:xfrm>
          <a:prstGeom prst="rect">
            <a:avLst/>
          </a:prstGeom>
          <a:noFill/>
          <a:ln/>
        </p:spPr>
        <p:txBody>
          <a:bodyPr wrap="square" lIns="0" tIns="0" rIns="0" bIns="0" rtlCol="0" anchor="ctr"/>
          <a:lstStyle/>
          <a:p>
            <a:pPr marL="0" indent="0" algn="ctr">
              <a:buNone/>
            </a:pPr>
            <a:r>
              <a:rPr lang="en-US" sz="850" b="1" dirty="0">
                <a:solidFill>
                  <a:srgbClr val="1A1A2E"/>
                </a:solidFill>
                <a:latin typeface="Arial" pitchFamily="34" charset="0"/>
                <a:ea typeface="Arial" pitchFamily="34" charset="-122"/>
                <a:cs typeface="Arial" pitchFamily="34" charset="-120"/>
              </a:rPr>
              <a:t>Scan Path</a:t>
            </a:r>
            <a:endParaRPr lang="en-US" sz="850" dirty="0"/>
          </a:p>
          <a:p>
            <a:pPr marL="0" indent="0" algn="ctr">
              <a:buNone/>
            </a:pPr>
            <a:r>
              <a:rPr lang="en-US" sz="850" b="1" dirty="0">
                <a:solidFill>
                  <a:srgbClr val="1A1A2E"/>
                </a:solidFill>
                <a:latin typeface="Arial" pitchFamily="34" charset="0"/>
                <a:ea typeface="Arial" pitchFamily="34" charset="-122"/>
                <a:cs typeface="Arial" pitchFamily="34" charset="-120"/>
              </a:rPr>
              <a:t>Planning</a:t>
            </a:r>
            <a:endParaRPr lang="en-US" sz="850" dirty="0"/>
          </a:p>
        </p:txBody>
      </p:sp>
      <p:sp>
        <p:nvSpPr>
          <p:cNvPr id="65" name="Shape 45"/>
          <p:cNvSpPr/>
          <p:nvPr/>
        </p:nvSpPr>
        <p:spPr>
          <a:xfrm>
            <a:off x="10953476" y="1166783"/>
            <a:ext cx="1012006" cy="1333467"/>
          </a:xfrm>
          <a:prstGeom prst="roundRect">
            <a:avLst>
              <a:gd name="adj" fmla="val 4518"/>
            </a:avLst>
          </a:prstGeom>
          <a:solidFill>
            <a:srgbClr val="FFFFFF"/>
          </a:solidFill>
          <a:ln w="9525">
            <a:solidFill>
              <a:srgbClr val="2255A4"/>
            </a:solidFill>
            <a:prstDash val="solid"/>
          </a:ln>
        </p:spPr>
      </p:sp>
      <p:pic>
        <p:nvPicPr>
          <p:cNvPr id="66" name="Image 18" descr="assets_sat/t_collision_icon.png"/>
          <p:cNvPicPr>
            <a:picLocks noChangeAspect="1"/>
          </p:cNvPicPr>
          <p:nvPr/>
        </p:nvPicPr>
        <p:blipFill>
          <a:blip r:embed="rId21"/>
          <a:stretch>
            <a:fillRect/>
          </a:stretch>
        </p:blipFill>
        <p:spPr>
          <a:xfrm>
            <a:off x="11024912" y="1214407"/>
            <a:ext cx="869135" cy="809605"/>
          </a:xfrm>
          <a:prstGeom prst="rect">
            <a:avLst/>
          </a:prstGeom>
        </p:spPr>
      </p:pic>
      <p:sp>
        <p:nvSpPr>
          <p:cNvPr id="67" name="Text 46"/>
          <p:cNvSpPr/>
          <p:nvPr/>
        </p:nvSpPr>
        <p:spPr>
          <a:xfrm>
            <a:off x="10953476" y="2071636"/>
            <a:ext cx="1012006" cy="357179"/>
          </a:xfrm>
          <a:prstGeom prst="rect">
            <a:avLst/>
          </a:prstGeom>
          <a:noFill/>
          <a:ln/>
        </p:spPr>
        <p:txBody>
          <a:bodyPr wrap="square" lIns="0" tIns="0" rIns="0" bIns="0" rtlCol="0" anchor="ctr"/>
          <a:lstStyle/>
          <a:p>
            <a:pPr marL="0" indent="0" algn="ctr">
              <a:buNone/>
            </a:pPr>
            <a:r>
              <a:rPr lang="en-US" sz="850" b="1" dirty="0">
                <a:solidFill>
                  <a:srgbClr val="1A1A2E"/>
                </a:solidFill>
                <a:latin typeface="Arial" pitchFamily="34" charset="0"/>
                <a:ea typeface="Arial" pitchFamily="34" charset="-122"/>
                <a:cs typeface="Arial" pitchFamily="34" charset="-120"/>
              </a:rPr>
              <a:t>Collision &amp;</a:t>
            </a:r>
            <a:endParaRPr lang="en-US" sz="850" dirty="0"/>
          </a:p>
          <a:p>
            <a:pPr marL="0" indent="0" algn="ctr">
              <a:buNone/>
            </a:pPr>
            <a:r>
              <a:rPr lang="en-US" sz="850" b="1" dirty="0">
                <a:solidFill>
                  <a:srgbClr val="1A1A2E"/>
                </a:solidFill>
                <a:latin typeface="Arial" pitchFamily="34" charset="0"/>
                <a:ea typeface="Arial" pitchFamily="34" charset="-122"/>
                <a:cs typeface="Arial" pitchFamily="34" charset="-120"/>
              </a:rPr>
              <a:t>Threat Avoidance</a:t>
            </a:r>
            <a:endParaRPr lang="en-US" sz="850" dirty="0"/>
          </a:p>
        </p:txBody>
      </p:sp>
      <p:sp>
        <p:nvSpPr>
          <p:cNvPr id="68" name="Shape 47"/>
          <p:cNvSpPr/>
          <p:nvPr/>
        </p:nvSpPr>
        <p:spPr>
          <a:xfrm>
            <a:off x="8810405" y="2571686"/>
            <a:ext cx="1547774" cy="1131065"/>
          </a:xfrm>
          <a:prstGeom prst="roundRect">
            <a:avLst>
              <a:gd name="adj" fmla="val 4042"/>
            </a:avLst>
          </a:prstGeom>
          <a:solidFill>
            <a:srgbClr val="FFFFFF"/>
          </a:solidFill>
          <a:ln w="9525">
            <a:solidFill>
              <a:srgbClr val="2255A4"/>
            </a:solidFill>
            <a:prstDash val="solid"/>
          </a:ln>
        </p:spPr>
      </p:sp>
      <p:pic>
        <p:nvPicPr>
          <p:cNvPr id="69" name="Image 19" descr="assets_sat/t_scanrate_icon.png"/>
          <p:cNvPicPr>
            <a:picLocks noChangeAspect="1"/>
          </p:cNvPicPr>
          <p:nvPr/>
        </p:nvPicPr>
        <p:blipFill>
          <a:blip r:embed="rId22"/>
          <a:stretch>
            <a:fillRect/>
          </a:stretch>
        </p:blipFill>
        <p:spPr>
          <a:xfrm>
            <a:off x="8988994" y="2619310"/>
            <a:ext cx="1190595" cy="666733"/>
          </a:xfrm>
          <a:prstGeom prst="rect">
            <a:avLst/>
          </a:prstGeom>
        </p:spPr>
      </p:pic>
      <p:sp>
        <p:nvSpPr>
          <p:cNvPr id="70" name="Text 48"/>
          <p:cNvSpPr/>
          <p:nvPr/>
        </p:nvSpPr>
        <p:spPr>
          <a:xfrm>
            <a:off x="8810405" y="3333667"/>
            <a:ext cx="1547774" cy="309555"/>
          </a:xfrm>
          <a:prstGeom prst="rect">
            <a:avLst/>
          </a:prstGeom>
          <a:noFill/>
          <a:ln/>
        </p:spPr>
        <p:txBody>
          <a:bodyPr wrap="square" lIns="0" tIns="0" rIns="0" bIns="0" rtlCol="0" anchor="ctr"/>
          <a:lstStyle/>
          <a:p>
            <a:pPr marL="0" indent="0" algn="ctr">
              <a:buNone/>
            </a:pPr>
            <a:r>
              <a:rPr lang="en-US" sz="850" b="1" dirty="0">
                <a:solidFill>
                  <a:srgbClr val="1A1A2E"/>
                </a:solidFill>
                <a:latin typeface="Arial" pitchFamily="34" charset="0"/>
                <a:ea typeface="Arial" pitchFamily="34" charset="-122"/>
                <a:cs typeface="Arial" pitchFamily="34" charset="-120"/>
              </a:rPr>
              <a:t>Scan Rate Planning</a:t>
            </a:r>
            <a:endParaRPr lang="en-US" sz="850" dirty="0"/>
          </a:p>
        </p:txBody>
      </p:sp>
      <p:sp>
        <p:nvSpPr>
          <p:cNvPr id="71" name="Shape 49"/>
          <p:cNvSpPr/>
          <p:nvPr/>
        </p:nvSpPr>
        <p:spPr>
          <a:xfrm>
            <a:off x="10453426" y="2571686"/>
            <a:ext cx="1547774" cy="1131065"/>
          </a:xfrm>
          <a:prstGeom prst="roundRect">
            <a:avLst>
              <a:gd name="adj" fmla="val 4042"/>
            </a:avLst>
          </a:prstGeom>
          <a:solidFill>
            <a:srgbClr val="FFFFFF"/>
          </a:solidFill>
          <a:ln w="9525">
            <a:solidFill>
              <a:srgbClr val="2255A4"/>
            </a:solidFill>
            <a:prstDash val="solid"/>
          </a:ln>
        </p:spPr>
      </p:sp>
      <p:pic>
        <p:nvPicPr>
          <p:cNvPr id="72" name="Image 20" descr="assets_sat/t_scanspeed_icon.png"/>
          <p:cNvPicPr>
            <a:picLocks noChangeAspect="1"/>
          </p:cNvPicPr>
          <p:nvPr/>
        </p:nvPicPr>
        <p:blipFill>
          <a:blip r:embed="rId23"/>
          <a:stretch>
            <a:fillRect/>
          </a:stretch>
        </p:blipFill>
        <p:spPr>
          <a:xfrm>
            <a:off x="10632015" y="2619310"/>
            <a:ext cx="1190595" cy="666733"/>
          </a:xfrm>
          <a:prstGeom prst="rect">
            <a:avLst/>
          </a:prstGeom>
        </p:spPr>
      </p:pic>
      <p:sp>
        <p:nvSpPr>
          <p:cNvPr id="73" name="Text 50"/>
          <p:cNvSpPr/>
          <p:nvPr/>
        </p:nvSpPr>
        <p:spPr>
          <a:xfrm>
            <a:off x="10453426" y="3333667"/>
            <a:ext cx="1547774" cy="309555"/>
          </a:xfrm>
          <a:prstGeom prst="rect">
            <a:avLst/>
          </a:prstGeom>
          <a:noFill/>
          <a:ln/>
        </p:spPr>
        <p:txBody>
          <a:bodyPr wrap="square" lIns="0" tIns="0" rIns="0" bIns="0" rtlCol="0" anchor="ctr"/>
          <a:lstStyle/>
          <a:p>
            <a:pPr marL="0" indent="0" algn="ctr">
              <a:buNone/>
            </a:pPr>
            <a:r>
              <a:rPr lang="en-US" sz="850" b="1" dirty="0">
                <a:solidFill>
                  <a:srgbClr val="1A1A2E"/>
                </a:solidFill>
                <a:latin typeface="Arial" pitchFamily="34" charset="0"/>
                <a:ea typeface="Arial" pitchFamily="34" charset="-122"/>
                <a:cs typeface="Arial" pitchFamily="34" charset="-120"/>
              </a:rPr>
              <a:t>Scan Speed Planning</a:t>
            </a:r>
            <a:endParaRPr lang="en-US" sz="850" dirty="0"/>
          </a:p>
        </p:txBody>
      </p:sp>
      <p:sp>
        <p:nvSpPr>
          <p:cNvPr id="74" name="Text 51"/>
          <p:cNvSpPr/>
          <p:nvPr/>
        </p:nvSpPr>
        <p:spPr>
          <a:xfrm>
            <a:off x="8727063" y="3774187"/>
            <a:ext cx="3333667" cy="142871"/>
          </a:xfrm>
          <a:prstGeom prst="rect">
            <a:avLst/>
          </a:prstGeom>
          <a:noFill/>
          <a:ln/>
        </p:spPr>
        <p:txBody>
          <a:bodyPr wrap="square" lIns="0" tIns="0" rIns="0" bIns="0" rtlCol="0" anchor="ctr"/>
          <a:lstStyle/>
          <a:p>
            <a:pPr marL="0" indent="0" algn="ctr">
              <a:buNone/>
            </a:pPr>
            <a:r>
              <a:rPr lang="en-US" sz="750" i="1" dirty="0">
                <a:solidFill>
                  <a:srgbClr val="1A1A2E"/>
                </a:solidFill>
                <a:latin typeface="Arial" pitchFamily="34" charset="0"/>
                <a:ea typeface="Arial" pitchFamily="34" charset="-122"/>
                <a:cs typeface="Arial" pitchFamily="34" charset="-120"/>
              </a:rPr>
              <a:t>Functional text bottom adapted</a:t>
            </a:r>
            <a:endParaRPr lang="en-US" sz="750" dirty="0"/>
          </a:p>
        </p:txBody>
      </p:sp>
      <p:sp>
        <p:nvSpPr>
          <p:cNvPr id="75" name="Shape 52"/>
          <p:cNvSpPr/>
          <p:nvPr/>
        </p:nvSpPr>
        <p:spPr>
          <a:xfrm>
            <a:off x="2500250" y="4286143"/>
            <a:ext cx="4881440" cy="1666833"/>
          </a:xfrm>
          <a:prstGeom prst="roundRect">
            <a:avLst>
              <a:gd name="adj" fmla="val 2743"/>
            </a:avLst>
          </a:prstGeom>
          <a:solidFill>
            <a:srgbClr val="EAF6EC"/>
          </a:solidFill>
          <a:ln w="15875">
            <a:solidFill>
              <a:srgbClr val="2E7D32"/>
            </a:solidFill>
            <a:prstDash val="solid"/>
          </a:ln>
        </p:spPr>
      </p:sp>
      <p:sp>
        <p:nvSpPr>
          <p:cNvPr id="76" name="Text 53"/>
          <p:cNvSpPr/>
          <p:nvPr/>
        </p:nvSpPr>
        <p:spPr>
          <a:xfrm>
            <a:off x="2500250" y="4357579"/>
            <a:ext cx="4881440" cy="238119"/>
          </a:xfrm>
          <a:prstGeom prst="rect">
            <a:avLst/>
          </a:prstGeom>
          <a:noFill/>
          <a:ln/>
        </p:spPr>
        <p:txBody>
          <a:bodyPr wrap="square" lIns="0" tIns="0" rIns="0" bIns="0" rtlCol="0" anchor="ctr"/>
          <a:lstStyle/>
          <a:p>
            <a:pPr marL="0" indent="0" algn="ctr">
              <a:buNone/>
            </a:pPr>
            <a:r>
              <a:rPr lang="en-US" sz="1300" b="1" dirty="0">
                <a:solidFill>
                  <a:srgbClr val="2E7D32"/>
                </a:solidFill>
                <a:latin typeface="Arial" pitchFamily="34" charset="0"/>
                <a:ea typeface="Arial" pitchFamily="34" charset="-122"/>
                <a:cs typeface="Arial" pitchFamily="34" charset="-120"/>
              </a:rPr>
              <a:t>ORBIT &amp; LOCATION</a:t>
            </a:r>
            <a:endParaRPr lang="en-US" sz="1300" dirty="0"/>
          </a:p>
        </p:txBody>
      </p:sp>
      <p:sp>
        <p:nvSpPr>
          <p:cNvPr id="77" name="Text 54"/>
          <p:cNvSpPr/>
          <p:nvPr/>
        </p:nvSpPr>
        <p:spPr>
          <a:xfrm>
            <a:off x="3095548" y="4690945"/>
            <a:ext cx="1226313" cy="238119"/>
          </a:xfrm>
          <a:prstGeom prst="rect">
            <a:avLst/>
          </a:prstGeom>
          <a:noFill/>
          <a:ln/>
        </p:spPr>
        <p:txBody>
          <a:bodyPr wrap="square" lIns="0" tIns="0" rIns="0" bIns="0" rtlCol="0" anchor="ctr"/>
          <a:lstStyle/>
          <a:p>
            <a:pPr marL="0" indent="0" algn="ctr">
              <a:buNone/>
            </a:pPr>
            <a:r>
              <a:rPr lang="en-US" sz="850" b="1" dirty="0">
                <a:solidFill>
                  <a:srgbClr val="1A1A2E"/>
                </a:solidFill>
                <a:latin typeface="Arial" pitchFamily="34" charset="0"/>
                <a:ea typeface="Arial" pitchFamily="34" charset="-122"/>
                <a:cs typeface="Arial" pitchFamily="34" charset="-120"/>
              </a:rPr>
              <a:t>Map Data</a:t>
            </a:r>
            <a:endParaRPr lang="en-US" sz="850" dirty="0"/>
          </a:p>
        </p:txBody>
      </p:sp>
      <p:sp>
        <p:nvSpPr>
          <p:cNvPr id="78" name="Shape 55"/>
          <p:cNvSpPr/>
          <p:nvPr/>
        </p:nvSpPr>
        <p:spPr>
          <a:xfrm>
            <a:off x="3095548" y="4940970"/>
            <a:ext cx="1226313" cy="833417"/>
          </a:xfrm>
          <a:prstGeom prst="roundRect">
            <a:avLst>
              <a:gd name="adj" fmla="val 5486"/>
            </a:avLst>
          </a:prstGeom>
          <a:solidFill>
            <a:srgbClr val="FFFFFF"/>
          </a:solidFill>
          <a:ln w="9525">
            <a:solidFill>
              <a:srgbClr val="2E7D32"/>
            </a:solidFill>
            <a:prstDash val="solid"/>
          </a:ln>
        </p:spPr>
      </p:sp>
      <p:pic>
        <p:nvPicPr>
          <p:cNvPr id="79" name="Image 21" descr="assets_sat/t_mapdata2.png"/>
          <p:cNvPicPr>
            <a:picLocks noChangeAspect="1"/>
          </p:cNvPicPr>
          <p:nvPr/>
        </p:nvPicPr>
        <p:blipFill>
          <a:blip r:embed="rId24"/>
          <a:stretch>
            <a:fillRect/>
          </a:stretch>
        </p:blipFill>
        <p:spPr>
          <a:xfrm>
            <a:off x="3143171" y="4988594"/>
            <a:ext cx="1131065" cy="738169"/>
          </a:xfrm>
          <a:prstGeom prst="rect">
            <a:avLst/>
          </a:prstGeom>
        </p:spPr>
      </p:pic>
      <p:sp>
        <p:nvSpPr>
          <p:cNvPr id="80" name="Shape 56"/>
          <p:cNvSpPr/>
          <p:nvPr/>
        </p:nvSpPr>
        <p:spPr>
          <a:xfrm>
            <a:off x="4357579" y="5298149"/>
            <a:ext cx="142871" cy="166683"/>
          </a:xfrm>
          <a:prstGeom prst="rightArrow">
            <a:avLst/>
          </a:prstGeom>
          <a:solidFill>
            <a:srgbClr val="0D2A55"/>
          </a:solidFill>
          <a:ln/>
        </p:spPr>
      </p:sp>
      <p:sp>
        <p:nvSpPr>
          <p:cNvPr id="81" name="Text 57"/>
          <p:cNvSpPr/>
          <p:nvPr/>
        </p:nvSpPr>
        <p:spPr>
          <a:xfrm>
            <a:off x="4559980" y="4690945"/>
            <a:ext cx="1226313" cy="238119"/>
          </a:xfrm>
          <a:prstGeom prst="rect">
            <a:avLst/>
          </a:prstGeom>
          <a:noFill/>
          <a:ln/>
        </p:spPr>
        <p:txBody>
          <a:bodyPr wrap="square" lIns="0" tIns="0" rIns="0" bIns="0" rtlCol="0" anchor="ctr"/>
          <a:lstStyle/>
          <a:p>
            <a:pPr marL="0" indent="0" algn="ctr">
              <a:buNone/>
            </a:pPr>
            <a:r>
              <a:rPr lang="en-US" sz="850" b="1" dirty="0">
                <a:solidFill>
                  <a:srgbClr val="1A1A2E"/>
                </a:solidFill>
                <a:latin typeface="Arial" pitchFamily="34" charset="0"/>
                <a:ea typeface="Arial" pitchFamily="34" charset="-122"/>
                <a:cs typeface="Arial" pitchFamily="34" charset="-120"/>
              </a:rPr>
              <a:t>Map Matching</a:t>
            </a:r>
            <a:endParaRPr lang="en-US" sz="850" dirty="0"/>
          </a:p>
        </p:txBody>
      </p:sp>
      <p:sp>
        <p:nvSpPr>
          <p:cNvPr id="82" name="Shape 58"/>
          <p:cNvSpPr/>
          <p:nvPr/>
        </p:nvSpPr>
        <p:spPr>
          <a:xfrm>
            <a:off x="4559980" y="4940970"/>
            <a:ext cx="1226313" cy="833417"/>
          </a:xfrm>
          <a:prstGeom prst="roundRect">
            <a:avLst>
              <a:gd name="adj" fmla="val 5486"/>
            </a:avLst>
          </a:prstGeom>
          <a:solidFill>
            <a:srgbClr val="FFFFFF"/>
          </a:solidFill>
          <a:ln w="9525">
            <a:solidFill>
              <a:srgbClr val="2E7D32"/>
            </a:solidFill>
            <a:prstDash val="solid"/>
          </a:ln>
        </p:spPr>
      </p:sp>
      <p:pic>
        <p:nvPicPr>
          <p:cNvPr id="83" name="Image 22" descr="assets_sat/t_mapmatch2.png"/>
          <p:cNvPicPr>
            <a:picLocks noChangeAspect="1"/>
          </p:cNvPicPr>
          <p:nvPr/>
        </p:nvPicPr>
        <p:blipFill>
          <a:blip r:embed="rId25"/>
          <a:stretch>
            <a:fillRect/>
          </a:stretch>
        </p:blipFill>
        <p:spPr>
          <a:xfrm>
            <a:off x="4607604" y="4988594"/>
            <a:ext cx="1131065" cy="738169"/>
          </a:xfrm>
          <a:prstGeom prst="rect">
            <a:avLst/>
          </a:prstGeom>
        </p:spPr>
      </p:pic>
      <p:sp>
        <p:nvSpPr>
          <p:cNvPr id="84" name="Shape 59"/>
          <p:cNvSpPr/>
          <p:nvPr/>
        </p:nvSpPr>
        <p:spPr>
          <a:xfrm>
            <a:off x="5822011" y="5298149"/>
            <a:ext cx="142871" cy="166683"/>
          </a:xfrm>
          <a:prstGeom prst="rightArrow">
            <a:avLst/>
          </a:prstGeom>
          <a:solidFill>
            <a:srgbClr val="0D2A55"/>
          </a:solidFill>
          <a:ln/>
        </p:spPr>
      </p:sp>
      <p:sp>
        <p:nvSpPr>
          <p:cNvPr id="85" name="Text 60"/>
          <p:cNvSpPr/>
          <p:nvPr/>
        </p:nvSpPr>
        <p:spPr>
          <a:xfrm>
            <a:off x="6036318" y="4690945"/>
            <a:ext cx="1226313" cy="238119"/>
          </a:xfrm>
          <a:prstGeom prst="rect">
            <a:avLst/>
          </a:prstGeom>
          <a:noFill/>
          <a:ln/>
        </p:spPr>
        <p:txBody>
          <a:bodyPr wrap="square" lIns="0" tIns="0" rIns="0" bIns="0" rtlCol="0" anchor="ctr"/>
          <a:lstStyle/>
          <a:p>
            <a:pPr marL="0" indent="0" algn="ctr">
              <a:buNone/>
            </a:pPr>
            <a:r>
              <a:rPr lang="en-US" sz="850" b="1" dirty="0">
                <a:solidFill>
                  <a:srgbClr val="1A1A2E"/>
                </a:solidFill>
                <a:latin typeface="Arial" pitchFamily="34" charset="0"/>
                <a:ea typeface="Arial" pitchFamily="34" charset="-122"/>
                <a:cs typeface="Arial" pitchFamily="34" charset="-120"/>
              </a:rPr>
              <a:t>Vehicle</a:t>
            </a:r>
            <a:endParaRPr lang="en-US" sz="850" dirty="0"/>
          </a:p>
          <a:p>
            <a:pPr marL="0" indent="0" algn="ctr">
              <a:buNone/>
            </a:pPr>
            <a:r>
              <a:rPr lang="en-US" sz="850" b="1" dirty="0">
                <a:solidFill>
                  <a:srgbClr val="1A1A2E"/>
                </a:solidFill>
                <a:latin typeface="Arial" pitchFamily="34" charset="0"/>
                <a:ea typeface="Arial" pitchFamily="34" charset="-122"/>
                <a:cs typeface="Arial" pitchFamily="34" charset="-120"/>
              </a:rPr>
              <a:t>Localization</a:t>
            </a:r>
            <a:endParaRPr lang="en-US" sz="850" dirty="0"/>
          </a:p>
        </p:txBody>
      </p:sp>
      <p:sp>
        <p:nvSpPr>
          <p:cNvPr id="86" name="Shape 61"/>
          <p:cNvSpPr/>
          <p:nvPr/>
        </p:nvSpPr>
        <p:spPr>
          <a:xfrm>
            <a:off x="6036318" y="4940970"/>
            <a:ext cx="1226313" cy="833417"/>
          </a:xfrm>
          <a:prstGeom prst="roundRect">
            <a:avLst>
              <a:gd name="adj" fmla="val 5486"/>
            </a:avLst>
          </a:prstGeom>
          <a:solidFill>
            <a:srgbClr val="FFFFFF"/>
          </a:solidFill>
          <a:ln w="9525">
            <a:solidFill>
              <a:srgbClr val="2E7D32"/>
            </a:solidFill>
            <a:prstDash val="solid"/>
          </a:ln>
        </p:spPr>
      </p:sp>
      <p:pic>
        <p:nvPicPr>
          <p:cNvPr id="87" name="Image 23" descr="assets_sat/t_vehicleloc2.png"/>
          <p:cNvPicPr>
            <a:picLocks noChangeAspect="1"/>
          </p:cNvPicPr>
          <p:nvPr/>
        </p:nvPicPr>
        <p:blipFill>
          <a:blip r:embed="rId26"/>
          <a:stretch>
            <a:fillRect/>
          </a:stretch>
        </p:blipFill>
        <p:spPr>
          <a:xfrm>
            <a:off x="6083942" y="4988594"/>
            <a:ext cx="1131065" cy="738169"/>
          </a:xfrm>
          <a:prstGeom prst="rect">
            <a:avLst/>
          </a:prstGeom>
        </p:spPr>
      </p:pic>
      <p:pic>
        <p:nvPicPr>
          <p:cNvPr id="88" name="Image 24" descr="assets_sat/t_localized_icon.png"/>
          <p:cNvPicPr>
            <a:picLocks noChangeAspect="1"/>
          </p:cNvPicPr>
          <p:nvPr/>
        </p:nvPicPr>
        <p:blipFill>
          <a:blip r:embed="rId27"/>
          <a:stretch>
            <a:fillRect/>
          </a:stretch>
        </p:blipFill>
        <p:spPr>
          <a:xfrm>
            <a:off x="7572186" y="4619510"/>
            <a:ext cx="738169" cy="642921"/>
          </a:xfrm>
          <a:prstGeom prst="rect">
            <a:avLst/>
          </a:prstGeom>
        </p:spPr>
      </p:pic>
      <p:sp>
        <p:nvSpPr>
          <p:cNvPr id="89" name="Text 62"/>
          <p:cNvSpPr/>
          <p:nvPr/>
        </p:nvSpPr>
        <p:spPr>
          <a:xfrm>
            <a:off x="7381690" y="5310055"/>
            <a:ext cx="1142971" cy="285743"/>
          </a:xfrm>
          <a:prstGeom prst="rect">
            <a:avLst/>
          </a:prstGeom>
          <a:noFill/>
          <a:ln/>
        </p:spPr>
        <p:txBody>
          <a:bodyPr wrap="square" lIns="0" tIns="0" rIns="0" bIns="0" rtlCol="0" anchor="ctr"/>
          <a:lstStyle/>
          <a:p>
            <a:pPr marL="0" indent="0" algn="ctr">
              <a:buNone/>
            </a:pPr>
            <a:r>
              <a:rPr lang="en-US" sz="850" b="1" dirty="0">
                <a:solidFill>
                  <a:srgbClr val="1A1A2E"/>
                </a:solidFill>
                <a:latin typeface="Arial" pitchFamily="34" charset="0"/>
                <a:ea typeface="Arial" pitchFamily="34" charset="-122"/>
                <a:cs typeface="Arial" pitchFamily="34" charset="-120"/>
              </a:rPr>
              <a:t>Localized State</a:t>
            </a:r>
            <a:endParaRPr lang="en-US" sz="850" dirty="0"/>
          </a:p>
        </p:txBody>
      </p:sp>
      <p:sp>
        <p:nvSpPr>
          <p:cNvPr id="90" name="Shape 63"/>
          <p:cNvSpPr/>
          <p:nvPr/>
        </p:nvSpPr>
        <p:spPr>
          <a:xfrm>
            <a:off x="8727063" y="4024212"/>
            <a:ext cx="3333667" cy="2000200"/>
          </a:xfrm>
          <a:prstGeom prst="roundRect">
            <a:avLst>
              <a:gd name="adj" fmla="val 2286"/>
            </a:avLst>
          </a:prstGeom>
          <a:solidFill>
            <a:srgbClr val="F3EEF9"/>
          </a:solidFill>
          <a:ln w="15875">
            <a:solidFill>
              <a:srgbClr val="6C3FA8"/>
            </a:solidFill>
            <a:prstDash val="solid"/>
          </a:ln>
        </p:spPr>
      </p:sp>
      <p:sp>
        <p:nvSpPr>
          <p:cNvPr id="91" name="Text 64"/>
          <p:cNvSpPr/>
          <p:nvPr/>
        </p:nvSpPr>
        <p:spPr>
          <a:xfrm>
            <a:off x="8727063" y="4095648"/>
            <a:ext cx="3333667" cy="214307"/>
          </a:xfrm>
          <a:prstGeom prst="rect">
            <a:avLst/>
          </a:prstGeom>
          <a:noFill/>
          <a:ln/>
        </p:spPr>
        <p:txBody>
          <a:bodyPr wrap="square" lIns="0" tIns="0" rIns="0" bIns="0" rtlCol="0" anchor="ctr"/>
          <a:lstStyle/>
          <a:p>
            <a:pPr marL="0" indent="0" algn="ctr">
              <a:buNone/>
            </a:pPr>
            <a:r>
              <a:rPr lang="en-US" sz="1150" b="1" dirty="0">
                <a:solidFill>
                  <a:srgbClr val="6C3FA8"/>
                </a:solidFill>
                <a:latin typeface="Arial" pitchFamily="34" charset="0"/>
                <a:ea typeface="Arial" pitchFamily="34" charset="-122"/>
                <a:cs typeface="Arial" pitchFamily="34" charset="-120"/>
              </a:rPr>
              <a:t>GNC &amp; PAYLOAD CONTROL</a:t>
            </a:r>
            <a:endParaRPr lang="en-US" sz="1150" dirty="0"/>
          </a:p>
        </p:txBody>
      </p:sp>
      <p:sp>
        <p:nvSpPr>
          <p:cNvPr id="92" name="Shape 65"/>
          <p:cNvSpPr/>
          <p:nvPr/>
        </p:nvSpPr>
        <p:spPr>
          <a:xfrm>
            <a:off x="8846123" y="4714757"/>
            <a:ext cx="857229" cy="881040"/>
          </a:xfrm>
          <a:prstGeom prst="roundRect">
            <a:avLst>
              <a:gd name="adj" fmla="val 5333"/>
            </a:avLst>
          </a:prstGeom>
          <a:solidFill>
            <a:srgbClr val="FFFFFF"/>
          </a:solidFill>
          <a:ln w="9525">
            <a:solidFill>
              <a:srgbClr val="6C3FA8"/>
            </a:solidFill>
            <a:prstDash val="solid"/>
          </a:ln>
        </p:spPr>
      </p:sp>
      <p:sp>
        <p:nvSpPr>
          <p:cNvPr id="93" name="Text 66"/>
          <p:cNvSpPr/>
          <p:nvPr/>
        </p:nvSpPr>
        <p:spPr>
          <a:xfrm>
            <a:off x="8846123" y="4738569"/>
            <a:ext cx="857229" cy="261931"/>
          </a:xfrm>
          <a:prstGeom prst="rect">
            <a:avLst/>
          </a:prstGeom>
          <a:noFill/>
          <a:ln/>
        </p:spPr>
        <p:txBody>
          <a:bodyPr wrap="square" lIns="0" tIns="0" rIns="0" bIns="0" rtlCol="0" anchor="ctr"/>
          <a:lstStyle/>
          <a:p>
            <a:pPr marL="0" indent="0" algn="ctr">
              <a:buNone/>
            </a:pPr>
            <a:r>
              <a:rPr lang="en-US" sz="800" b="1" dirty="0">
                <a:solidFill>
                  <a:srgbClr val="1A1A2E"/>
                </a:solidFill>
                <a:latin typeface="Arial" pitchFamily="34" charset="0"/>
                <a:ea typeface="Arial" pitchFamily="34" charset="-122"/>
                <a:cs typeface="Arial" pitchFamily="34" charset="-120"/>
              </a:rPr>
              <a:t>Attitude</a:t>
            </a:r>
            <a:endParaRPr lang="en-US" sz="800" dirty="0"/>
          </a:p>
          <a:p>
            <a:pPr marL="0" indent="0" algn="ctr">
              <a:buNone/>
            </a:pPr>
            <a:r>
              <a:rPr lang="en-US" sz="800" b="1" dirty="0">
                <a:solidFill>
                  <a:srgbClr val="1A1A2E"/>
                </a:solidFill>
                <a:latin typeface="Arial" pitchFamily="34" charset="0"/>
                <a:ea typeface="Arial" pitchFamily="34" charset="-122"/>
                <a:cs typeface="Arial" pitchFamily="34" charset="-120"/>
              </a:rPr>
              <a:t>Controller</a:t>
            </a:r>
            <a:endParaRPr lang="en-US" sz="800" dirty="0"/>
          </a:p>
        </p:txBody>
      </p:sp>
      <p:pic>
        <p:nvPicPr>
          <p:cNvPr id="94" name="Image 25" descr="assets_sat/t_attitude_icon.png"/>
          <p:cNvPicPr>
            <a:picLocks noChangeAspect="1"/>
          </p:cNvPicPr>
          <p:nvPr/>
        </p:nvPicPr>
        <p:blipFill>
          <a:blip r:embed="rId28"/>
          <a:stretch>
            <a:fillRect/>
          </a:stretch>
        </p:blipFill>
        <p:spPr>
          <a:xfrm>
            <a:off x="8988994" y="5000500"/>
            <a:ext cx="571486" cy="559580"/>
          </a:xfrm>
          <a:prstGeom prst="rect">
            <a:avLst/>
          </a:prstGeom>
        </p:spPr>
      </p:pic>
      <p:sp>
        <p:nvSpPr>
          <p:cNvPr id="95" name="Shape 67"/>
          <p:cNvSpPr/>
          <p:nvPr/>
        </p:nvSpPr>
        <p:spPr>
          <a:xfrm>
            <a:off x="9762881" y="4714757"/>
            <a:ext cx="857229" cy="881040"/>
          </a:xfrm>
          <a:prstGeom prst="roundRect">
            <a:avLst>
              <a:gd name="adj" fmla="val 5333"/>
            </a:avLst>
          </a:prstGeom>
          <a:solidFill>
            <a:srgbClr val="FFFFFF"/>
          </a:solidFill>
          <a:ln w="9525">
            <a:solidFill>
              <a:srgbClr val="6C3FA8"/>
            </a:solidFill>
            <a:prstDash val="solid"/>
          </a:ln>
        </p:spPr>
      </p:sp>
      <p:sp>
        <p:nvSpPr>
          <p:cNvPr id="96" name="Text 68"/>
          <p:cNvSpPr/>
          <p:nvPr/>
        </p:nvSpPr>
        <p:spPr>
          <a:xfrm>
            <a:off x="9762881" y="4738569"/>
            <a:ext cx="857229" cy="261931"/>
          </a:xfrm>
          <a:prstGeom prst="rect">
            <a:avLst/>
          </a:prstGeom>
          <a:noFill/>
          <a:ln/>
        </p:spPr>
        <p:txBody>
          <a:bodyPr wrap="square" lIns="0" tIns="0" rIns="0" bIns="0" rtlCol="0" anchor="ctr"/>
          <a:lstStyle/>
          <a:p>
            <a:pPr marL="0" indent="0" algn="ctr">
              <a:buNone/>
            </a:pPr>
            <a:r>
              <a:rPr lang="en-US" sz="800" b="1" dirty="0">
                <a:solidFill>
                  <a:srgbClr val="1A1A2E"/>
                </a:solidFill>
                <a:latin typeface="Arial" pitchFamily="34" charset="0"/>
                <a:ea typeface="Arial" pitchFamily="34" charset="-122"/>
                <a:cs typeface="Arial" pitchFamily="34" charset="-120"/>
              </a:rPr>
              <a:t>Thruster</a:t>
            </a:r>
            <a:endParaRPr lang="en-US" sz="800" dirty="0"/>
          </a:p>
          <a:p>
            <a:pPr marL="0" indent="0" algn="ctr">
              <a:buNone/>
            </a:pPr>
            <a:r>
              <a:rPr lang="en-US" sz="800" b="1" dirty="0">
                <a:solidFill>
                  <a:srgbClr val="1A1A2E"/>
                </a:solidFill>
                <a:latin typeface="Arial" pitchFamily="34" charset="0"/>
                <a:ea typeface="Arial" pitchFamily="34" charset="-122"/>
                <a:cs typeface="Arial" pitchFamily="34" charset="-120"/>
              </a:rPr>
              <a:t>Controller</a:t>
            </a:r>
            <a:endParaRPr lang="en-US" sz="800" dirty="0"/>
          </a:p>
        </p:txBody>
      </p:sp>
      <p:pic>
        <p:nvPicPr>
          <p:cNvPr id="97" name="Image 26" descr="assets_sat/t_thruster_icon.png"/>
          <p:cNvPicPr>
            <a:picLocks noChangeAspect="1"/>
          </p:cNvPicPr>
          <p:nvPr/>
        </p:nvPicPr>
        <p:blipFill>
          <a:blip r:embed="rId29"/>
          <a:stretch>
            <a:fillRect/>
          </a:stretch>
        </p:blipFill>
        <p:spPr>
          <a:xfrm>
            <a:off x="9905752" y="5000500"/>
            <a:ext cx="571486" cy="559580"/>
          </a:xfrm>
          <a:prstGeom prst="rect">
            <a:avLst/>
          </a:prstGeom>
        </p:spPr>
      </p:pic>
      <p:sp>
        <p:nvSpPr>
          <p:cNvPr id="98" name="Shape 69"/>
          <p:cNvSpPr/>
          <p:nvPr/>
        </p:nvSpPr>
        <p:spPr>
          <a:xfrm>
            <a:off x="10679639" y="4714757"/>
            <a:ext cx="857229" cy="881040"/>
          </a:xfrm>
          <a:prstGeom prst="roundRect">
            <a:avLst>
              <a:gd name="adj" fmla="val 5333"/>
            </a:avLst>
          </a:prstGeom>
          <a:solidFill>
            <a:srgbClr val="FFFFFF"/>
          </a:solidFill>
          <a:ln w="9525">
            <a:solidFill>
              <a:srgbClr val="6C3FA8"/>
            </a:solidFill>
            <a:prstDash val="solid"/>
          </a:ln>
        </p:spPr>
      </p:sp>
      <p:sp>
        <p:nvSpPr>
          <p:cNvPr id="99" name="Text 70"/>
          <p:cNvSpPr/>
          <p:nvPr/>
        </p:nvSpPr>
        <p:spPr>
          <a:xfrm>
            <a:off x="10679639" y="4738569"/>
            <a:ext cx="857229" cy="261931"/>
          </a:xfrm>
          <a:prstGeom prst="rect">
            <a:avLst/>
          </a:prstGeom>
          <a:noFill/>
          <a:ln/>
        </p:spPr>
        <p:txBody>
          <a:bodyPr wrap="square" lIns="0" tIns="0" rIns="0" bIns="0" rtlCol="0" anchor="ctr"/>
          <a:lstStyle/>
          <a:p>
            <a:pPr marL="0" indent="0" algn="ctr">
              <a:buNone/>
            </a:pPr>
            <a:r>
              <a:rPr lang="en-US" sz="800" b="1" dirty="0">
                <a:solidFill>
                  <a:srgbClr val="1A1A2E"/>
                </a:solidFill>
                <a:latin typeface="Arial" pitchFamily="34" charset="0"/>
                <a:ea typeface="Arial" pitchFamily="34" charset="-122"/>
                <a:cs typeface="Arial" pitchFamily="34" charset="-120"/>
              </a:rPr>
              <a:t>Payload /</a:t>
            </a:r>
            <a:endParaRPr lang="en-US" sz="800" dirty="0"/>
          </a:p>
          <a:p>
            <a:pPr marL="0" indent="0" algn="ctr">
              <a:buNone/>
            </a:pPr>
            <a:r>
              <a:rPr lang="en-US" sz="800" b="1" dirty="0">
                <a:solidFill>
                  <a:srgbClr val="1A1A2E"/>
                </a:solidFill>
                <a:latin typeface="Arial" pitchFamily="34" charset="0"/>
                <a:ea typeface="Arial" pitchFamily="34" charset="-122"/>
                <a:cs typeface="Arial" pitchFamily="34" charset="-120"/>
              </a:rPr>
              <a:t>Instrument</a:t>
            </a:r>
            <a:endParaRPr lang="en-US" sz="800" dirty="0"/>
          </a:p>
          <a:p>
            <a:pPr marL="0" indent="0" algn="ctr">
              <a:buNone/>
            </a:pPr>
            <a:r>
              <a:rPr lang="en-US" sz="800" b="1" dirty="0">
                <a:solidFill>
                  <a:srgbClr val="1A1A2E"/>
                </a:solidFill>
                <a:latin typeface="Arial" pitchFamily="34" charset="0"/>
                <a:ea typeface="Arial" pitchFamily="34" charset="-122"/>
                <a:cs typeface="Arial" pitchFamily="34" charset="-120"/>
              </a:rPr>
              <a:t>Controller</a:t>
            </a:r>
            <a:endParaRPr lang="en-US" sz="800" dirty="0"/>
          </a:p>
        </p:txBody>
      </p:sp>
      <p:pic>
        <p:nvPicPr>
          <p:cNvPr id="100" name="Image 27" descr="assets_sat/t_payload_icon.png"/>
          <p:cNvPicPr>
            <a:picLocks noChangeAspect="1"/>
          </p:cNvPicPr>
          <p:nvPr/>
        </p:nvPicPr>
        <p:blipFill>
          <a:blip r:embed="rId30"/>
          <a:stretch>
            <a:fillRect/>
          </a:stretch>
        </p:blipFill>
        <p:spPr>
          <a:xfrm>
            <a:off x="10822511" y="5000500"/>
            <a:ext cx="571486" cy="559580"/>
          </a:xfrm>
          <a:prstGeom prst="rect">
            <a:avLst/>
          </a:prstGeom>
        </p:spPr>
      </p:pic>
      <p:sp>
        <p:nvSpPr>
          <p:cNvPr id="101" name="Shape 71"/>
          <p:cNvSpPr/>
          <p:nvPr/>
        </p:nvSpPr>
        <p:spPr>
          <a:xfrm>
            <a:off x="8846123" y="5667233"/>
            <a:ext cx="2690745" cy="285743"/>
          </a:xfrm>
          <a:prstGeom prst="roundRect">
            <a:avLst>
              <a:gd name="adj" fmla="val 16000"/>
            </a:avLst>
          </a:prstGeom>
          <a:solidFill>
            <a:srgbClr val="FFFFFF"/>
          </a:solidFill>
          <a:ln w="9525">
            <a:solidFill>
              <a:srgbClr val="6C3FA8"/>
            </a:solidFill>
            <a:prstDash val="solid"/>
          </a:ln>
        </p:spPr>
      </p:sp>
      <p:sp>
        <p:nvSpPr>
          <p:cNvPr id="102" name="Text 72"/>
          <p:cNvSpPr/>
          <p:nvPr/>
        </p:nvSpPr>
        <p:spPr>
          <a:xfrm>
            <a:off x="8846123" y="5667233"/>
            <a:ext cx="2690745" cy="285743"/>
          </a:xfrm>
          <a:prstGeom prst="rect">
            <a:avLst/>
          </a:prstGeom>
          <a:noFill/>
          <a:ln/>
        </p:spPr>
        <p:txBody>
          <a:bodyPr wrap="square" lIns="0" tIns="0" rIns="0" bIns="0" rtlCol="0" anchor="ctr"/>
          <a:lstStyle/>
          <a:p>
            <a:pPr marL="0" indent="0" algn="ctr">
              <a:buNone/>
            </a:pPr>
            <a:r>
              <a:rPr lang="en-US" sz="750" b="1" dirty="0">
                <a:solidFill>
                  <a:srgbClr val="1A1A2E"/>
                </a:solidFill>
                <a:latin typeface="Arial" pitchFamily="34" charset="0"/>
                <a:ea typeface="Arial" pitchFamily="34" charset="-122"/>
                <a:cs typeface="Arial" pitchFamily="34" charset="-120"/>
              </a:rPr>
              <a:t>Actuation Commands</a:t>
            </a:r>
            <a:endParaRPr lang="en-US" sz="750" dirty="0"/>
          </a:p>
          <a:p>
            <a:pPr marL="0" indent="0" algn="ctr">
              <a:buNone/>
            </a:pPr>
            <a:r>
              <a:rPr lang="en-US" sz="750" b="1" dirty="0">
                <a:solidFill>
                  <a:srgbClr val="1A1A2E"/>
                </a:solidFill>
                <a:latin typeface="Arial" pitchFamily="34" charset="0"/>
                <a:ea typeface="Arial" pitchFamily="34" charset="-122"/>
                <a:cs typeface="Arial" pitchFamily="34" charset="-120"/>
              </a:rPr>
              <a:t>(Attitude, Thruster, Payload Scan)</a:t>
            </a:r>
            <a:endParaRPr lang="en-US" sz="750" dirty="0"/>
          </a:p>
        </p:txBody>
      </p:sp>
      <p:sp>
        <p:nvSpPr>
          <p:cNvPr id="103" name="Shape 73"/>
          <p:cNvSpPr/>
          <p:nvPr/>
        </p:nvSpPr>
        <p:spPr>
          <a:xfrm>
            <a:off x="59530" y="6107754"/>
            <a:ext cx="2321661" cy="1762081"/>
          </a:xfrm>
          <a:prstGeom prst="roundRect">
            <a:avLst>
              <a:gd name="adj" fmla="val 2595"/>
            </a:avLst>
          </a:prstGeom>
          <a:ln w="12700">
            <a:solidFill>
              <a:srgbClr val="1B3B6F"/>
            </a:solidFill>
            <a:prstDash val="dash"/>
          </a:ln>
        </p:spPr>
      </p:sp>
      <p:sp>
        <p:nvSpPr>
          <p:cNvPr id="104" name="Text 74"/>
          <p:cNvSpPr/>
          <p:nvPr/>
        </p:nvSpPr>
        <p:spPr>
          <a:xfrm>
            <a:off x="59530" y="6155377"/>
            <a:ext cx="2321661" cy="190495"/>
          </a:xfrm>
          <a:prstGeom prst="rect">
            <a:avLst/>
          </a:prstGeom>
          <a:noFill/>
          <a:ln/>
        </p:spPr>
        <p:txBody>
          <a:bodyPr wrap="square" lIns="0" tIns="0" rIns="0" bIns="0" rtlCol="0" anchor="ctr"/>
          <a:lstStyle/>
          <a:p>
            <a:pPr marL="0" indent="0" algn="ctr">
              <a:buNone/>
            </a:pPr>
            <a:r>
              <a:rPr lang="en-US" sz="1050" b="1" dirty="0">
                <a:solidFill>
                  <a:srgbClr val="0D2A55"/>
                </a:solidFill>
                <a:latin typeface="Arial" pitchFamily="34" charset="0"/>
                <a:ea typeface="Arial" pitchFamily="34" charset="-122"/>
                <a:cs typeface="Arial" pitchFamily="34" charset="-120"/>
              </a:rPr>
              <a:t>LEGEND</a:t>
            </a:r>
            <a:endParaRPr lang="en-US" sz="1050" dirty="0"/>
          </a:p>
        </p:txBody>
      </p:sp>
      <p:sp>
        <p:nvSpPr>
          <p:cNvPr id="105" name="Shape 75"/>
          <p:cNvSpPr/>
          <p:nvPr/>
        </p:nvSpPr>
        <p:spPr>
          <a:xfrm>
            <a:off x="214307" y="6405402"/>
            <a:ext cx="285743" cy="154777"/>
          </a:xfrm>
          <a:prstGeom prst="roundRect">
            <a:avLst>
              <a:gd name="adj" fmla="val 29539"/>
            </a:avLst>
          </a:prstGeom>
          <a:solidFill>
            <a:srgbClr val="FFFFFF"/>
          </a:solidFill>
          <a:ln w="15875">
            <a:solidFill>
              <a:srgbClr val="E67E22"/>
            </a:solidFill>
            <a:prstDash val="solid"/>
          </a:ln>
        </p:spPr>
      </p:sp>
      <p:sp>
        <p:nvSpPr>
          <p:cNvPr id="106" name="Text 76"/>
          <p:cNvSpPr/>
          <p:nvPr/>
        </p:nvSpPr>
        <p:spPr>
          <a:xfrm>
            <a:off x="571486" y="6381590"/>
            <a:ext cx="1726363" cy="202401"/>
          </a:xfrm>
          <a:prstGeom prst="rect">
            <a:avLst/>
          </a:prstGeom>
          <a:noFill/>
          <a:ln/>
        </p:spPr>
        <p:txBody>
          <a:bodyPr wrap="square" lIns="0" tIns="0" rIns="0" bIns="0" rtlCol="0" anchor="ctr"/>
          <a:lstStyle/>
          <a:p>
            <a:pPr marL="0" indent="0" algn="l">
              <a:buNone/>
            </a:pPr>
            <a:r>
              <a:rPr lang="en-US" sz="800" dirty="0">
                <a:solidFill>
                  <a:srgbClr val="1A1A2E"/>
                </a:solidFill>
                <a:latin typeface="Arial" pitchFamily="34" charset="0"/>
                <a:ea typeface="Arial" pitchFamily="34" charset="-122"/>
                <a:cs typeface="Arial" pitchFamily="34" charset="-120"/>
              </a:rPr>
              <a:t>Earth Perception</a:t>
            </a:r>
            <a:endParaRPr lang="en-US" sz="800" dirty="0"/>
          </a:p>
        </p:txBody>
      </p:sp>
      <p:sp>
        <p:nvSpPr>
          <p:cNvPr id="107" name="Shape 77"/>
          <p:cNvSpPr/>
          <p:nvPr/>
        </p:nvSpPr>
        <p:spPr>
          <a:xfrm>
            <a:off x="214307" y="6619710"/>
            <a:ext cx="285743" cy="154777"/>
          </a:xfrm>
          <a:prstGeom prst="roundRect">
            <a:avLst>
              <a:gd name="adj" fmla="val 29539"/>
            </a:avLst>
          </a:prstGeom>
          <a:solidFill>
            <a:srgbClr val="FFFFFF"/>
          </a:solidFill>
          <a:ln w="15875">
            <a:solidFill>
              <a:srgbClr val="2E7D32"/>
            </a:solidFill>
            <a:prstDash val="solid"/>
          </a:ln>
        </p:spPr>
      </p:sp>
      <p:sp>
        <p:nvSpPr>
          <p:cNvPr id="108" name="Text 78"/>
          <p:cNvSpPr/>
          <p:nvPr/>
        </p:nvSpPr>
        <p:spPr>
          <a:xfrm>
            <a:off x="571486" y="6595898"/>
            <a:ext cx="1726363" cy="202401"/>
          </a:xfrm>
          <a:prstGeom prst="rect">
            <a:avLst/>
          </a:prstGeom>
          <a:noFill/>
          <a:ln/>
        </p:spPr>
        <p:txBody>
          <a:bodyPr wrap="square" lIns="0" tIns="0" rIns="0" bIns="0" rtlCol="0" anchor="ctr"/>
          <a:lstStyle/>
          <a:p>
            <a:pPr marL="0" indent="0" algn="l">
              <a:buNone/>
            </a:pPr>
            <a:r>
              <a:rPr lang="en-US" sz="800" dirty="0">
                <a:solidFill>
                  <a:srgbClr val="1A1A2E"/>
                </a:solidFill>
                <a:latin typeface="Arial" pitchFamily="34" charset="0"/>
                <a:ea typeface="Arial" pitchFamily="34" charset="-122"/>
                <a:cs typeface="Arial" pitchFamily="34" charset="-120"/>
              </a:rPr>
              <a:t>Orbit &amp; Location Determination</a:t>
            </a:r>
            <a:endParaRPr lang="en-US" sz="800" dirty="0"/>
          </a:p>
        </p:txBody>
      </p:sp>
      <p:sp>
        <p:nvSpPr>
          <p:cNvPr id="109" name="Shape 79"/>
          <p:cNvSpPr/>
          <p:nvPr/>
        </p:nvSpPr>
        <p:spPr>
          <a:xfrm>
            <a:off x="214307" y="6834017"/>
            <a:ext cx="285743" cy="154777"/>
          </a:xfrm>
          <a:prstGeom prst="roundRect">
            <a:avLst>
              <a:gd name="adj" fmla="val 29539"/>
            </a:avLst>
          </a:prstGeom>
          <a:solidFill>
            <a:srgbClr val="FFFFFF"/>
          </a:solidFill>
          <a:ln w="15875">
            <a:solidFill>
              <a:srgbClr val="2255A4"/>
            </a:solidFill>
            <a:prstDash val="solid"/>
          </a:ln>
        </p:spPr>
      </p:sp>
      <p:sp>
        <p:nvSpPr>
          <p:cNvPr id="110" name="Text 80"/>
          <p:cNvSpPr/>
          <p:nvPr/>
        </p:nvSpPr>
        <p:spPr>
          <a:xfrm>
            <a:off x="571486" y="6810205"/>
            <a:ext cx="1726363" cy="202401"/>
          </a:xfrm>
          <a:prstGeom prst="rect">
            <a:avLst/>
          </a:prstGeom>
          <a:noFill/>
          <a:ln/>
        </p:spPr>
        <p:txBody>
          <a:bodyPr wrap="square" lIns="0" tIns="0" rIns="0" bIns="0" rtlCol="0" anchor="ctr"/>
          <a:lstStyle/>
          <a:p>
            <a:pPr marL="0" indent="0" algn="l">
              <a:buNone/>
            </a:pPr>
            <a:r>
              <a:rPr lang="en-US" sz="800" dirty="0">
                <a:solidFill>
                  <a:srgbClr val="1A1A2E"/>
                </a:solidFill>
                <a:latin typeface="Arial" pitchFamily="34" charset="0"/>
                <a:ea typeface="Arial" pitchFamily="34" charset="-122"/>
                <a:cs typeface="Arial" pitchFamily="34" charset="-120"/>
              </a:rPr>
              <a:t>Orbit &amp; Path Planning</a:t>
            </a:r>
            <a:endParaRPr lang="en-US" sz="800" dirty="0"/>
          </a:p>
        </p:txBody>
      </p:sp>
      <p:sp>
        <p:nvSpPr>
          <p:cNvPr id="111" name="Shape 81"/>
          <p:cNvSpPr/>
          <p:nvPr/>
        </p:nvSpPr>
        <p:spPr>
          <a:xfrm>
            <a:off x="214307" y="7048324"/>
            <a:ext cx="285743" cy="154777"/>
          </a:xfrm>
          <a:prstGeom prst="roundRect">
            <a:avLst>
              <a:gd name="adj" fmla="val 29539"/>
            </a:avLst>
          </a:prstGeom>
          <a:solidFill>
            <a:srgbClr val="FFFFFF"/>
          </a:solidFill>
          <a:ln w="15875">
            <a:solidFill>
              <a:srgbClr val="6C3FA8"/>
            </a:solidFill>
            <a:prstDash val="solid"/>
          </a:ln>
        </p:spPr>
      </p:sp>
      <p:sp>
        <p:nvSpPr>
          <p:cNvPr id="112" name="Text 82"/>
          <p:cNvSpPr/>
          <p:nvPr/>
        </p:nvSpPr>
        <p:spPr>
          <a:xfrm>
            <a:off x="571486" y="7024512"/>
            <a:ext cx="1726363" cy="202401"/>
          </a:xfrm>
          <a:prstGeom prst="rect">
            <a:avLst/>
          </a:prstGeom>
          <a:noFill/>
          <a:ln/>
        </p:spPr>
        <p:txBody>
          <a:bodyPr wrap="square" lIns="0" tIns="0" rIns="0" bIns="0" rtlCol="0" anchor="ctr"/>
          <a:lstStyle/>
          <a:p>
            <a:pPr marL="0" indent="0" algn="l">
              <a:buNone/>
            </a:pPr>
            <a:r>
              <a:rPr lang="en-US" sz="800" dirty="0">
                <a:solidFill>
                  <a:srgbClr val="1A1A2E"/>
                </a:solidFill>
                <a:latin typeface="Arial" pitchFamily="34" charset="0"/>
                <a:ea typeface="Arial" pitchFamily="34" charset="-122"/>
                <a:cs typeface="Arial" pitchFamily="34" charset="-120"/>
              </a:rPr>
              <a:t>Attit. &amp; GNC Control</a:t>
            </a:r>
            <a:endParaRPr lang="en-US" sz="800" dirty="0"/>
          </a:p>
        </p:txBody>
      </p:sp>
      <p:sp>
        <p:nvSpPr>
          <p:cNvPr id="113" name="Shape 83"/>
          <p:cNvSpPr/>
          <p:nvPr/>
        </p:nvSpPr>
        <p:spPr>
          <a:xfrm>
            <a:off x="214307" y="7357879"/>
            <a:ext cx="285743" cy="0"/>
          </a:xfrm>
          <a:prstGeom prst="line">
            <a:avLst/>
          </a:prstGeom>
          <a:noFill/>
          <a:ln w="15875">
            <a:solidFill>
              <a:srgbClr val="0D2A55"/>
            </a:solidFill>
            <a:prstDash val="dash"/>
          </a:ln>
        </p:spPr>
      </p:sp>
      <p:sp>
        <p:nvSpPr>
          <p:cNvPr id="114" name="Text 84"/>
          <p:cNvSpPr/>
          <p:nvPr/>
        </p:nvSpPr>
        <p:spPr>
          <a:xfrm>
            <a:off x="571486" y="7274537"/>
            <a:ext cx="1726363" cy="178589"/>
          </a:xfrm>
          <a:prstGeom prst="rect">
            <a:avLst/>
          </a:prstGeom>
          <a:noFill/>
          <a:ln/>
        </p:spPr>
        <p:txBody>
          <a:bodyPr wrap="square" lIns="0" tIns="0" rIns="0" bIns="0" rtlCol="0" anchor="ctr"/>
          <a:lstStyle/>
          <a:p>
            <a:pPr marL="0" indent="0" algn="l">
              <a:buNone/>
            </a:pPr>
            <a:r>
              <a:rPr lang="en-US" sz="800" dirty="0">
                <a:solidFill>
                  <a:srgbClr val="1A1A2E"/>
                </a:solidFill>
                <a:latin typeface="Arial" pitchFamily="34" charset="0"/>
                <a:ea typeface="Arial" pitchFamily="34" charset="-122"/>
                <a:cs typeface="Arial" pitchFamily="34" charset="-120"/>
              </a:rPr>
              <a:t>Sensor Data Flow</a:t>
            </a:r>
            <a:endParaRPr lang="en-US" sz="800" dirty="0"/>
          </a:p>
        </p:txBody>
      </p:sp>
      <p:sp>
        <p:nvSpPr>
          <p:cNvPr id="115" name="Shape 85"/>
          <p:cNvSpPr/>
          <p:nvPr/>
        </p:nvSpPr>
        <p:spPr>
          <a:xfrm>
            <a:off x="214307" y="7572186"/>
            <a:ext cx="285743" cy="0"/>
          </a:xfrm>
          <a:prstGeom prst="line">
            <a:avLst/>
          </a:prstGeom>
          <a:noFill/>
          <a:ln w="15875">
            <a:solidFill>
              <a:srgbClr val="0D2A55"/>
            </a:solidFill>
            <a:prstDash val="lgDashDot"/>
          </a:ln>
        </p:spPr>
      </p:sp>
      <p:sp>
        <p:nvSpPr>
          <p:cNvPr id="116" name="Text 86"/>
          <p:cNvSpPr/>
          <p:nvPr/>
        </p:nvSpPr>
        <p:spPr>
          <a:xfrm>
            <a:off x="571486" y="7488844"/>
            <a:ext cx="1726363" cy="178589"/>
          </a:xfrm>
          <a:prstGeom prst="rect">
            <a:avLst/>
          </a:prstGeom>
          <a:noFill/>
          <a:ln/>
        </p:spPr>
        <p:txBody>
          <a:bodyPr wrap="square" lIns="0" tIns="0" rIns="0" bIns="0" rtlCol="0" anchor="ctr"/>
          <a:lstStyle/>
          <a:p>
            <a:pPr marL="0" indent="0" algn="l">
              <a:buNone/>
            </a:pPr>
            <a:r>
              <a:rPr lang="en-US" sz="800" dirty="0">
                <a:solidFill>
                  <a:srgbClr val="1A1A2E"/>
                </a:solidFill>
                <a:latin typeface="Arial" pitchFamily="34" charset="0"/>
                <a:ea typeface="Arial" pitchFamily="34" charset="-122"/>
                <a:cs typeface="Arial" pitchFamily="34" charset="-120"/>
              </a:rPr>
              <a:t>Telemetry Data Flow</a:t>
            </a:r>
            <a:endParaRPr lang="en-US" sz="800" dirty="0"/>
          </a:p>
        </p:txBody>
      </p:sp>
      <p:pic>
        <p:nvPicPr>
          <p:cNvPr id="117" name="Image 28" descr="assets_sat/t_satellite.png"/>
          <p:cNvPicPr>
            <a:picLocks noChangeAspect="1"/>
          </p:cNvPicPr>
          <p:nvPr/>
        </p:nvPicPr>
        <p:blipFill>
          <a:blip r:embed="rId31"/>
          <a:stretch>
            <a:fillRect/>
          </a:stretch>
        </p:blipFill>
        <p:spPr>
          <a:xfrm>
            <a:off x="4048024" y="6155377"/>
            <a:ext cx="3071736" cy="1702551"/>
          </a:xfrm>
          <a:prstGeom prst="rect">
            <a:avLst/>
          </a:prstGeom>
        </p:spPr>
      </p:pic>
      <p:sp>
        <p:nvSpPr>
          <p:cNvPr id="118" name="Shape 87"/>
          <p:cNvSpPr/>
          <p:nvPr/>
        </p:nvSpPr>
        <p:spPr>
          <a:xfrm>
            <a:off x="7238819" y="6107754"/>
            <a:ext cx="4893346" cy="1785893"/>
          </a:xfrm>
          <a:prstGeom prst="roundRect">
            <a:avLst>
              <a:gd name="adj" fmla="val 2560"/>
            </a:avLst>
          </a:prstGeom>
          <a:solidFill>
            <a:srgbClr val="FBF3D9"/>
          </a:solidFill>
          <a:ln w="15875">
            <a:solidFill>
              <a:srgbClr val="9C7A29"/>
            </a:solidFill>
            <a:prstDash val="solid"/>
          </a:ln>
        </p:spPr>
      </p:sp>
      <p:sp>
        <p:nvSpPr>
          <p:cNvPr id="119" name="Text 88"/>
          <p:cNvSpPr/>
          <p:nvPr/>
        </p:nvSpPr>
        <p:spPr>
          <a:xfrm>
            <a:off x="7238819" y="6167283"/>
            <a:ext cx="4893346" cy="238119"/>
          </a:xfrm>
          <a:prstGeom prst="rect">
            <a:avLst/>
          </a:prstGeom>
          <a:noFill/>
          <a:ln/>
        </p:spPr>
        <p:txBody>
          <a:bodyPr wrap="square" lIns="0" tIns="0" rIns="0" bIns="0" rtlCol="0" anchor="ctr"/>
          <a:lstStyle/>
          <a:p>
            <a:pPr marL="0" indent="0" algn="ctr">
              <a:buNone/>
            </a:pPr>
            <a:r>
              <a:rPr lang="en-US" sz="1250" b="1" dirty="0">
                <a:solidFill>
                  <a:srgbClr val="9C7A29"/>
                </a:solidFill>
                <a:latin typeface="Arial" pitchFamily="34" charset="0"/>
                <a:ea typeface="Arial" pitchFamily="34" charset="-122"/>
                <a:cs typeface="Arial" pitchFamily="34" charset="-120"/>
              </a:rPr>
              <a:t>SATELLITE OUTPUT</a:t>
            </a:r>
            <a:endParaRPr lang="en-US" sz="1250" dirty="0"/>
          </a:p>
        </p:txBody>
      </p:sp>
      <p:pic>
        <p:nvPicPr>
          <p:cNvPr id="120" name="Image 29" descr="assets_sat/t_orbit_scan_stab.png"/>
          <p:cNvPicPr>
            <a:picLocks noChangeAspect="1"/>
          </p:cNvPicPr>
          <p:nvPr/>
        </p:nvPicPr>
        <p:blipFill>
          <a:blip r:embed="rId32"/>
          <a:stretch>
            <a:fillRect/>
          </a:stretch>
        </p:blipFill>
        <p:spPr>
          <a:xfrm>
            <a:off x="7357879" y="6500650"/>
            <a:ext cx="857229" cy="666733"/>
          </a:xfrm>
          <a:prstGeom prst="rect">
            <a:avLst/>
          </a:prstGeom>
        </p:spPr>
      </p:pic>
      <p:sp>
        <p:nvSpPr>
          <p:cNvPr id="121" name="Text 89"/>
          <p:cNvSpPr/>
          <p:nvPr/>
        </p:nvSpPr>
        <p:spPr>
          <a:xfrm>
            <a:off x="7262631" y="7167383"/>
            <a:ext cx="1071536" cy="380990"/>
          </a:xfrm>
          <a:prstGeom prst="rect">
            <a:avLst/>
          </a:prstGeom>
          <a:noFill/>
          <a:ln/>
        </p:spPr>
        <p:txBody>
          <a:bodyPr wrap="square" lIns="0" tIns="0" rIns="0" bIns="0" rtlCol="0" anchor="ctr"/>
          <a:lstStyle/>
          <a:p>
            <a:pPr marL="0" indent="0" algn="ctr">
              <a:buNone/>
            </a:pPr>
            <a:r>
              <a:rPr lang="en-US" sz="750" b="1" dirty="0">
                <a:solidFill>
                  <a:srgbClr val="1A1A2E"/>
                </a:solidFill>
                <a:latin typeface="Arial" pitchFamily="34" charset="0"/>
                <a:ea typeface="Arial" pitchFamily="34" charset="-122"/>
                <a:cs typeface="Arial" pitchFamily="34" charset="-120"/>
              </a:rPr>
              <a:t>Orbit / Scan</a:t>
            </a:r>
            <a:endParaRPr lang="en-US" sz="750" dirty="0"/>
          </a:p>
          <a:p>
            <a:pPr marL="0" indent="0" algn="ctr">
              <a:buNone/>
            </a:pPr>
            <a:r>
              <a:rPr lang="en-US" sz="750" b="1" dirty="0">
                <a:solidFill>
                  <a:srgbClr val="1A1A2E"/>
                </a:solidFill>
                <a:latin typeface="Arial" pitchFamily="34" charset="0"/>
                <a:ea typeface="Arial" pitchFamily="34" charset="-122"/>
                <a:cs typeface="Arial" pitchFamily="34" charset="-120"/>
              </a:rPr>
              <a:t>Path Stability</a:t>
            </a:r>
            <a:endParaRPr lang="en-US" sz="750" dirty="0"/>
          </a:p>
        </p:txBody>
      </p:sp>
      <p:pic>
        <p:nvPicPr>
          <p:cNvPr id="122" name="Image 30" descr="assets_sat/t_collision_avoid2.png"/>
          <p:cNvPicPr>
            <a:picLocks noChangeAspect="1"/>
          </p:cNvPicPr>
          <p:nvPr/>
        </p:nvPicPr>
        <p:blipFill>
          <a:blip r:embed="rId33"/>
          <a:stretch>
            <a:fillRect/>
          </a:stretch>
        </p:blipFill>
        <p:spPr>
          <a:xfrm>
            <a:off x="8310355" y="6500650"/>
            <a:ext cx="857229" cy="666733"/>
          </a:xfrm>
          <a:prstGeom prst="rect">
            <a:avLst/>
          </a:prstGeom>
        </p:spPr>
      </p:pic>
      <p:sp>
        <p:nvSpPr>
          <p:cNvPr id="123" name="Text 90"/>
          <p:cNvSpPr/>
          <p:nvPr/>
        </p:nvSpPr>
        <p:spPr>
          <a:xfrm>
            <a:off x="8215107" y="7167383"/>
            <a:ext cx="1071536" cy="380990"/>
          </a:xfrm>
          <a:prstGeom prst="rect">
            <a:avLst/>
          </a:prstGeom>
          <a:noFill/>
          <a:ln/>
        </p:spPr>
        <p:txBody>
          <a:bodyPr wrap="square" lIns="0" tIns="0" rIns="0" bIns="0" rtlCol="0" anchor="ctr"/>
          <a:lstStyle/>
          <a:p>
            <a:pPr marL="0" indent="0" algn="ctr">
              <a:buNone/>
            </a:pPr>
            <a:r>
              <a:rPr lang="en-US" sz="750" b="1" dirty="0">
                <a:solidFill>
                  <a:srgbClr val="1A1A2E"/>
                </a:solidFill>
                <a:latin typeface="Arial" pitchFamily="34" charset="0"/>
                <a:ea typeface="Arial" pitchFamily="34" charset="-122"/>
                <a:cs typeface="Arial" pitchFamily="34" charset="-120"/>
              </a:rPr>
              <a:t>Collision &amp;</a:t>
            </a:r>
            <a:endParaRPr lang="en-US" sz="750" dirty="0"/>
          </a:p>
          <a:p>
            <a:pPr marL="0" indent="0" algn="ctr">
              <a:buNone/>
            </a:pPr>
            <a:r>
              <a:rPr lang="en-US" sz="750" b="1" dirty="0">
                <a:solidFill>
                  <a:srgbClr val="1A1A2E"/>
                </a:solidFill>
                <a:latin typeface="Arial" pitchFamily="34" charset="0"/>
                <a:ea typeface="Arial" pitchFamily="34" charset="-122"/>
                <a:cs typeface="Arial" pitchFamily="34" charset="-120"/>
              </a:rPr>
              <a:t>Threat Avoidance</a:t>
            </a:r>
            <a:endParaRPr lang="en-US" sz="750" dirty="0"/>
          </a:p>
        </p:txBody>
      </p:sp>
      <p:pic>
        <p:nvPicPr>
          <p:cNvPr id="124" name="Image 31" descr="assets_sat/t_data_quality.png"/>
          <p:cNvPicPr>
            <a:picLocks noChangeAspect="1"/>
          </p:cNvPicPr>
          <p:nvPr/>
        </p:nvPicPr>
        <p:blipFill>
          <a:blip r:embed="rId34"/>
          <a:stretch>
            <a:fillRect/>
          </a:stretch>
        </p:blipFill>
        <p:spPr>
          <a:xfrm>
            <a:off x="9262831" y="6500650"/>
            <a:ext cx="857229" cy="666733"/>
          </a:xfrm>
          <a:prstGeom prst="rect">
            <a:avLst/>
          </a:prstGeom>
        </p:spPr>
      </p:pic>
      <p:sp>
        <p:nvSpPr>
          <p:cNvPr id="125" name="Text 91"/>
          <p:cNvSpPr/>
          <p:nvPr/>
        </p:nvSpPr>
        <p:spPr>
          <a:xfrm>
            <a:off x="9167583" y="7167383"/>
            <a:ext cx="1071536" cy="380990"/>
          </a:xfrm>
          <a:prstGeom prst="rect">
            <a:avLst/>
          </a:prstGeom>
          <a:noFill/>
          <a:ln/>
        </p:spPr>
        <p:txBody>
          <a:bodyPr wrap="square" lIns="0" tIns="0" rIns="0" bIns="0" rtlCol="0" anchor="ctr"/>
          <a:lstStyle/>
          <a:p>
            <a:pPr marL="0" indent="0" algn="ctr">
              <a:buNone/>
            </a:pPr>
            <a:r>
              <a:rPr lang="en-US" sz="750" b="1" dirty="0">
                <a:solidFill>
                  <a:srgbClr val="1A1A2E"/>
                </a:solidFill>
                <a:latin typeface="Arial" pitchFamily="34" charset="0"/>
                <a:ea typeface="Arial" pitchFamily="34" charset="-122"/>
                <a:cs typeface="Arial" pitchFamily="34" charset="-120"/>
              </a:rPr>
              <a:t>Data Quality /</a:t>
            </a:r>
            <a:endParaRPr lang="en-US" sz="750" dirty="0"/>
          </a:p>
          <a:p>
            <a:pPr marL="0" indent="0" algn="ctr">
              <a:buNone/>
            </a:pPr>
            <a:r>
              <a:rPr lang="en-US" sz="750" b="1" dirty="0">
                <a:solidFill>
                  <a:srgbClr val="1A1A2E"/>
                </a:solidFill>
                <a:latin typeface="Arial" pitchFamily="34" charset="0"/>
                <a:ea typeface="Arial" pitchFamily="34" charset="-122"/>
                <a:cs typeface="Arial" pitchFamily="34" charset="-120"/>
              </a:rPr>
              <a:t>Scan Rate Control</a:t>
            </a:r>
            <a:endParaRPr lang="en-US" sz="750" dirty="0"/>
          </a:p>
        </p:txBody>
      </p:sp>
      <p:pic>
        <p:nvPicPr>
          <p:cNvPr id="126" name="Image 32" descr="assets_sat/t_specific_object.png"/>
          <p:cNvPicPr>
            <a:picLocks noChangeAspect="1"/>
          </p:cNvPicPr>
          <p:nvPr/>
        </p:nvPicPr>
        <p:blipFill>
          <a:blip r:embed="rId35"/>
          <a:stretch>
            <a:fillRect/>
          </a:stretch>
        </p:blipFill>
        <p:spPr>
          <a:xfrm>
            <a:off x="10215307" y="6500650"/>
            <a:ext cx="857229" cy="666733"/>
          </a:xfrm>
          <a:prstGeom prst="rect">
            <a:avLst/>
          </a:prstGeom>
        </p:spPr>
      </p:pic>
      <p:sp>
        <p:nvSpPr>
          <p:cNvPr id="127" name="Text 92"/>
          <p:cNvSpPr/>
          <p:nvPr/>
        </p:nvSpPr>
        <p:spPr>
          <a:xfrm>
            <a:off x="10120059" y="7167383"/>
            <a:ext cx="1071536" cy="380990"/>
          </a:xfrm>
          <a:prstGeom prst="rect">
            <a:avLst/>
          </a:prstGeom>
          <a:noFill/>
          <a:ln/>
        </p:spPr>
        <p:txBody>
          <a:bodyPr wrap="square" lIns="0" tIns="0" rIns="0" bIns="0" rtlCol="0" anchor="ctr"/>
          <a:lstStyle/>
          <a:p>
            <a:pPr marL="0" indent="0" algn="ctr">
              <a:buNone/>
            </a:pPr>
            <a:r>
              <a:rPr lang="en-US" sz="750" b="1" dirty="0">
                <a:solidFill>
                  <a:srgbClr val="1A1A2E"/>
                </a:solidFill>
                <a:latin typeface="Arial" pitchFamily="34" charset="0"/>
                <a:ea typeface="Arial" pitchFamily="34" charset="-122"/>
                <a:cs typeface="Arial" pitchFamily="34" charset="-120"/>
              </a:rPr>
              <a:t>Specific Object</a:t>
            </a:r>
            <a:endParaRPr lang="en-US" sz="750" dirty="0"/>
          </a:p>
          <a:p>
            <a:pPr marL="0" indent="0" algn="ctr">
              <a:buNone/>
            </a:pPr>
            <a:r>
              <a:rPr lang="en-US" sz="750" b="1" dirty="0">
                <a:solidFill>
                  <a:srgbClr val="1A1A2E"/>
                </a:solidFill>
                <a:latin typeface="Arial" pitchFamily="34" charset="0"/>
                <a:ea typeface="Arial" pitchFamily="34" charset="-122"/>
                <a:cs typeface="Arial" pitchFamily="34" charset="-120"/>
              </a:rPr>
              <a:t>Detection</a:t>
            </a:r>
            <a:endParaRPr lang="en-US" sz="750" dirty="0"/>
          </a:p>
        </p:txBody>
      </p:sp>
      <p:pic>
        <p:nvPicPr>
          <p:cNvPr id="128" name="Image 33" descr="assets_sat/t_safe_orbit.png"/>
          <p:cNvPicPr>
            <a:picLocks noChangeAspect="1"/>
          </p:cNvPicPr>
          <p:nvPr/>
        </p:nvPicPr>
        <p:blipFill>
          <a:blip r:embed="rId36"/>
          <a:stretch>
            <a:fillRect/>
          </a:stretch>
        </p:blipFill>
        <p:spPr>
          <a:xfrm>
            <a:off x="11120159" y="6500650"/>
            <a:ext cx="857229" cy="666733"/>
          </a:xfrm>
          <a:prstGeom prst="rect">
            <a:avLst/>
          </a:prstGeom>
        </p:spPr>
      </p:pic>
      <p:sp>
        <p:nvSpPr>
          <p:cNvPr id="129" name="Text 93"/>
          <p:cNvSpPr/>
          <p:nvPr/>
        </p:nvSpPr>
        <p:spPr>
          <a:xfrm>
            <a:off x="11024912" y="7167383"/>
            <a:ext cx="1071536" cy="380990"/>
          </a:xfrm>
          <a:prstGeom prst="rect">
            <a:avLst/>
          </a:prstGeom>
          <a:noFill/>
          <a:ln/>
        </p:spPr>
        <p:txBody>
          <a:bodyPr wrap="square" lIns="0" tIns="0" rIns="0" bIns="0" rtlCol="0" anchor="ctr"/>
          <a:lstStyle/>
          <a:p>
            <a:pPr marL="0" indent="0" algn="ctr">
              <a:buNone/>
            </a:pPr>
            <a:r>
              <a:rPr lang="en-US" sz="750" b="1" dirty="0">
                <a:solidFill>
                  <a:srgbClr val="1A1A2E"/>
                </a:solidFill>
                <a:latin typeface="Arial" pitchFamily="34" charset="0"/>
                <a:ea typeface="Arial" pitchFamily="34" charset="-122"/>
                <a:cs typeface="Arial" pitchFamily="34" charset="-120"/>
              </a:rPr>
              <a:t>Safe Orbit</a:t>
            </a:r>
            <a:endParaRPr lang="en-US" sz="750" dirty="0"/>
          </a:p>
          <a:p>
            <a:pPr marL="0" indent="0" algn="ctr">
              <a:buNone/>
            </a:pPr>
            <a:r>
              <a:rPr lang="en-US" sz="750" b="1" dirty="0">
                <a:solidFill>
                  <a:srgbClr val="1A1A2E"/>
                </a:solidFill>
                <a:latin typeface="Arial" pitchFamily="34" charset="0"/>
                <a:ea typeface="Arial" pitchFamily="34" charset="-122"/>
                <a:cs typeface="Arial" pitchFamily="34" charset="-120"/>
              </a:rPr>
              <a:t>Mission Operation</a:t>
            </a:r>
            <a:endParaRPr lang="en-US" sz="750" dirty="0"/>
          </a:p>
        </p:txBody>
      </p:sp>
      <p:sp>
        <p:nvSpPr>
          <p:cNvPr id="130" name="Shape 94"/>
          <p:cNvSpPr/>
          <p:nvPr/>
        </p:nvSpPr>
        <p:spPr>
          <a:xfrm>
            <a:off x="8334167" y="1964482"/>
            <a:ext cx="369085" cy="0"/>
          </a:xfrm>
          <a:prstGeom prst="line">
            <a:avLst/>
          </a:prstGeom>
          <a:noFill/>
          <a:ln w="22225">
            <a:solidFill>
              <a:srgbClr val="0D2A55"/>
            </a:solidFill>
            <a:prstDash val="solid"/>
            <a:tailEnd type="triangle"/>
          </a:ln>
        </p:spPr>
      </p:sp>
      <p:sp>
        <p:nvSpPr>
          <p:cNvPr id="131" name="Shape 95"/>
          <p:cNvSpPr/>
          <p:nvPr/>
        </p:nvSpPr>
        <p:spPr>
          <a:xfrm>
            <a:off x="5357679" y="4226613"/>
            <a:ext cx="0" cy="35718"/>
          </a:xfrm>
          <a:prstGeom prst="line">
            <a:avLst/>
          </a:prstGeom>
          <a:noFill/>
          <a:ln w="22225">
            <a:solidFill>
              <a:srgbClr val="0D2A55"/>
            </a:solidFill>
            <a:prstDash val="solid"/>
            <a:tailEnd type="triangle"/>
          </a:ln>
        </p:spPr>
      </p:sp>
      <p:sp>
        <p:nvSpPr>
          <p:cNvPr id="132" name="Shape 96"/>
          <p:cNvSpPr/>
          <p:nvPr/>
        </p:nvSpPr>
        <p:spPr>
          <a:xfrm>
            <a:off x="10381990" y="3940870"/>
            <a:ext cx="0" cy="59530"/>
          </a:xfrm>
          <a:prstGeom prst="line">
            <a:avLst/>
          </a:prstGeom>
          <a:noFill/>
          <a:ln w="22225">
            <a:solidFill>
              <a:srgbClr val="0D2A55"/>
            </a:solidFill>
            <a:prstDash val="solid"/>
            <a:tailEnd type="triangle"/>
          </a:ln>
        </p:spPr>
      </p:sp>
      <p:sp>
        <p:nvSpPr>
          <p:cNvPr id="133" name="Shape 97"/>
          <p:cNvSpPr/>
          <p:nvPr/>
        </p:nvSpPr>
        <p:spPr>
          <a:xfrm flipV="1">
            <a:off x="7310255" y="4940970"/>
            <a:ext cx="238119" cy="119060"/>
          </a:xfrm>
          <a:prstGeom prst="line">
            <a:avLst/>
          </a:prstGeom>
          <a:noFill/>
          <a:ln w="22225">
            <a:solidFill>
              <a:srgbClr val="0D2A55"/>
            </a:solidFill>
            <a:prstDash val="solid"/>
            <a:tailEnd type="triangle"/>
          </a:ln>
        </p:spPr>
      </p:sp>
      <p:sp>
        <p:nvSpPr>
          <p:cNvPr id="134" name="Shape 98"/>
          <p:cNvSpPr/>
          <p:nvPr/>
        </p:nvSpPr>
        <p:spPr>
          <a:xfrm>
            <a:off x="8310355" y="4940970"/>
            <a:ext cx="392896" cy="0"/>
          </a:xfrm>
          <a:prstGeom prst="line">
            <a:avLst/>
          </a:prstGeom>
          <a:noFill/>
          <a:ln w="22225">
            <a:solidFill>
              <a:srgbClr val="0D2A55"/>
            </a:solidFill>
            <a:prstDash val="solid"/>
            <a:tailEnd type="triangle"/>
          </a:ln>
        </p:spPr>
      </p:sp>
      <p:sp>
        <p:nvSpPr>
          <p:cNvPr id="135" name="Shape 99"/>
          <p:cNvSpPr/>
          <p:nvPr/>
        </p:nvSpPr>
        <p:spPr>
          <a:xfrm>
            <a:off x="10381990" y="6024412"/>
            <a:ext cx="0" cy="59530"/>
          </a:xfrm>
          <a:prstGeom prst="line">
            <a:avLst/>
          </a:prstGeom>
          <a:noFill/>
          <a:ln w="22225">
            <a:solidFill>
              <a:srgbClr val="0D2A55"/>
            </a:solidFill>
            <a:prstDash val="solid"/>
            <a:tailEnd type="triangle"/>
          </a:ln>
        </p:spPr>
      </p:sp>
      <p:sp>
        <p:nvSpPr>
          <p:cNvPr id="136" name="Shape 100"/>
          <p:cNvSpPr/>
          <p:nvPr/>
        </p:nvSpPr>
        <p:spPr>
          <a:xfrm>
            <a:off x="5000500" y="5952976"/>
            <a:ext cx="0" cy="178589"/>
          </a:xfrm>
          <a:prstGeom prst="line">
            <a:avLst/>
          </a:prstGeom>
          <a:noFill/>
          <a:ln w="22225">
            <a:solidFill>
              <a:srgbClr val="0D2A55"/>
            </a:solidFill>
            <a:prstDash val="solid"/>
            <a:tailEnd type="triangle"/>
          </a:ln>
        </p:spPr>
      </p:sp>
      <p:sp>
        <p:nvSpPr>
          <p:cNvPr id="137" name="Shape 101"/>
          <p:cNvSpPr/>
          <p:nvPr/>
        </p:nvSpPr>
        <p:spPr>
          <a:xfrm>
            <a:off x="7119760" y="7000700"/>
            <a:ext cx="95248" cy="0"/>
          </a:xfrm>
          <a:prstGeom prst="line">
            <a:avLst/>
          </a:prstGeom>
          <a:noFill/>
          <a:ln w="22225">
            <a:solidFill>
              <a:srgbClr val="0D2A55"/>
            </a:solidFill>
            <a:prstDash val="solid"/>
            <a:tailEnd type="triangle"/>
          </a:ln>
        </p:spPr>
      </p:sp>
      <p:sp>
        <p:nvSpPr>
          <p:cNvPr id="138" name="Shape 102"/>
          <p:cNvSpPr/>
          <p:nvPr/>
        </p:nvSpPr>
        <p:spPr>
          <a:xfrm>
            <a:off x="1154877" y="5512456"/>
            <a:ext cx="0" cy="571486"/>
          </a:xfrm>
          <a:prstGeom prst="line">
            <a:avLst/>
          </a:prstGeom>
          <a:noFill/>
          <a:ln w="22225">
            <a:solidFill>
              <a:srgbClr val="0D2A55"/>
            </a:solidFill>
            <a:prstDash val="solid"/>
            <a:tailEnd type="triangle"/>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0CD7A2-49A4-F428-6EF7-2EC0FA8376CC}"/>
              </a:ext>
            </a:extLst>
          </p:cNvPr>
          <p:cNvSpPr txBox="1"/>
          <p:nvPr/>
        </p:nvSpPr>
        <p:spPr>
          <a:xfrm>
            <a:off x="435429" y="218105"/>
            <a:ext cx="10199914" cy="477054"/>
          </a:xfrm>
          <a:prstGeom prst="rect">
            <a:avLst/>
          </a:prstGeom>
          <a:noFill/>
        </p:spPr>
        <p:txBody>
          <a:bodyPr wrap="square">
            <a:spAutoFit/>
          </a:bodyPr>
          <a:lstStyle/>
          <a:p>
            <a:r>
              <a:rPr lang="en-IN" sz="2500" b="1" dirty="0">
                <a:latin typeface="Times New Roman" panose="02020603050405020304" pitchFamily="18" charset="0"/>
                <a:cs typeface="Times New Roman" panose="02020603050405020304" pitchFamily="18" charset="0"/>
              </a:rPr>
              <a:t>SATELLITE-BASED REMOTE SENSING SYSTEM ARCHITECTURE</a:t>
            </a:r>
          </a:p>
        </p:txBody>
      </p:sp>
      <p:sp>
        <p:nvSpPr>
          <p:cNvPr id="6" name="TextBox 5">
            <a:extLst>
              <a:ext uri="{FF2B5EF4-FFF2-40B4-BE49-F238E27FC236}">
                <a16:creationId xmlns:a16="http://schemas.microsoft.com/office/drawing/2014/main" id="{0A106B9A-8CB4-9179-ED2A-85D214150522}"/>
              </a:ext>
            </a:extLst>
          </p:cNvPr>
          <p:cNvSpPr txBox="1"/>
          <p:nvPr/>
        </p:nvSpPr>
        <p:spPr>
          <a:xfrm>
            <a:off x="326571" y="1244216"/>
            <a:ext cx="11092543" cy="6247864"/>
          </a:xfrm>
          <a:prstGeom prst="rect">
            <a:avLst/>
          </a:prstGeom>
          <a:noFill/>
        </p:spPr>
        <p:txBody>
          <a:bodyPr wrap="square">
            <a:spAutoFit/>
          </a:bodyPr>
          <a:lstStyle/>
          <a:p>
            <a:pPr algn="just"/>
            <a:r>
              <a:rPr lang="en-IN" sz="2500" dirty="0">
                <a:latin typeface="Times New Roman" panose="02020603050405020304" pitchFamily="18" charset="0"/>
                <a:cs typeface="Times New Roman" panose="02020603050405020304" pitchFamily="18" charset="0"/>
              </a:rPr>
              <a:t>The Satellite-Based Remote Sensing System Architecture is designed to collect, process, and </a:t>
            </a:r>
            <a:r>
              <a:rPr lang="en-IN" sz="2500" dirty="0" err="1">
                <a:latin typeface="Times New Roman" panose="02020603050405020304" pitchFamily="18" charset="0"/>
                <a:cs typeface="Times New Roman" panose="02020603050405020304" pitchFamily="18" charset="0"/>
              </a:rPr>
              <a:t>analyze</a:t>
            </a:r>
            <a:r>
              <a:rPr lang="en-IN" sz="2500" dirty="0">
                <a:latin typeface="Times New Roman" panose="02020603050405020304" pitchFamily="18" charset="0"/>
                <a:cs typeface="Times New Roman" panose="02020603050405020304" pitchFamily="18" charset="0"/>
              </a:rPr>
              <a:t> Earth observation data for various applications. The system begins with input sensors such as multispectral cameras, space-borne LiDAR, and GPS/GNSS, which capture high-resolution images and location information. The collected images undergo preprocessing steps including resizing, grayscale conversion, Gaussian blur, and edge detection to improve image quality and reduce noise. Advanced AI and computer vision algorithms then perform analytics tasks such as urban area detection, vehicle and ship identification, crop type classification, urban growth monitoring, and weather analysis. </a:t>
            </a:r>
          </a:p>
          <a:p>
            <a:pPr algn="just"/>
            <a:endParaRPr lang="en-IN" sz="2500" dirty="0">
              <a:latin typeface="Times New Roman" panose="02020603050405020304" pitchFamily="18" charset="0"/>
              <a:cs typeface="Times New Roman" panose="02020603050405020304" pitchFamily="18" charset="0"/>
            </a:endParaRPr>
          </a:p>
          <a:p>
            <a:pPr algn="just"/>
            <a:r>
              <a:rPr lang="en-IN" sz="2500" dirty="0">
                <a:latin typeface="Times New Roman" panose="02020603050405020304" pitchFamily="18" charset="0"/>
                <a:cs typeface="Times New Roman" panose="02020603050405020304" pitchFamily="18" charset="0"/>
              </a:rPr>
              <a:t>                                           The processed information is integrated with orbit and location data for accurate positioning and mapping. The mission planning module optimizes orbit paths, scan rates, and collision avoidance strategies. Finally, the Guidance, Navigation, and Control (GNC) system controls satellite attitude, payload operations, and thrusters. The system delivers accurate mapping, environmental monitoring, disaster management support, and efficient satellite mission operations.</a:t>
            </a:r>
          </a:p>
        </p:txBody>
      </p:sp>
    </p:spTree>
    <p:extLst>
      <p:ext uri="{BB962C8B-B14F-4D97-AF65-F5344CB8AC3E}">
        <p14:creationId xmlns:p14="http://schemas.microsoft.com/office/powerpoint/2010/main" val="14005873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383</Words>
  <Application>Microsoft Office PowerPoint</Application>
  <PresentationFormat>Custom</PresentationFormat>
  <Paragraphs>84</Paragraphs>
  <Slides>3</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Times New Roman</vt: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balu balaji</cp:lastModifiedBy>
  <cp:revision>2</cp:revision>
  <dcterms:created xsi:type="dcterms:W3CDTF">2026-07-16T04:56:40Z</dcterms:created>
  <dcterms:modified xsi:type="dcterms:W3CDTF">2026-07-16T07:27:29Z</dcterms:modified>
</cp:coreProperties>
</file>