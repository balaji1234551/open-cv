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107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txBody>
          <a:bodyPr/>
          <a:lstStyle/>
          <a:p>
            <a:endParaRPr lang="en-IN" dirty="0"/>
          </a:p>
        </p:txBody>
      </p:sp>
      <p:sp>
        <p:nvSpPr>
          <p:cNvPr id="9" name="Text 7"/>
          <p:cNvSpPr/>
          <p:nvPr/>
        </p:nvSpPr>
        <p:spPr>
          <a:xfrm>
            <a:off x="2074195" y="1953830"/>
            <a:ext cx="7772400" cy="365760"/>
          </a:xfrm>
          <a:prstGeom prst="rect">
            <a:avLst/>
          </a:prstGeom>
          <a:noFill/>
          <a:ln/>
        </p:spPr>
        <p:txBody>
          <a:bodyPr wrap="square" rtlCol="0" anchor="ctr"/>
          <a:lstStyle/>
          <a:p>
            <a:pPr marL="0" indent="0" algn="ctr">
              <a:buNone/>
            </a:pPr>
            <a:r>
              <a:rPr lang="en-US" sz="4000" b="1" kern="0" spc="300" dirty="0">
                <a:solidFill>
                  <a:srgbClr val="00A896"/>
                </a:solidFill>
                <a:latin typeface="Times New Roman" panose="02020603050405020304" pitchFamily="18" charset="0"/>
                <a:ea typeface="Calibri" pitchFamily="34" charset="-122"/>
                <a:cs typeface="Times New Roman" panose="02020603050405020304" pitchFamily="18" charset="0"/>
              </a:rPr>
              <a:t>DIGITAL IMAGE PROCESSING</a:t>
            </a:r>
            <a:endParaRPr lang="en-US" sz="4000" dirty="0">
              <a:latin typeface="Times New Roman" panose="02020603050405020304" pitchFamily="18" charset="0"/>
              <a:cs typeface="Times New Roman" panose="02020603050405020304" pitchFamily="18" charset="0"/>
            </a:endParaRPr>
          </a:p>
        </p:txBody>
      </p:sp>
      <p:sp>
        <p:nvSpPr>
          <p:cNvPr id="11" name="Text 9"/>
          <p:cNvSpPr/>
          <p:nvPr/>
        </p:nvSpPr>
        <p:spPr>
          <a:xfrm>
            <a:off x="640080" y="2788920"/>
            <a:ext cx="10640630" cy="1371600"/>
          </a:xfrm>
          <a:prstGeom prst="rect">
            <a:avLst/>
          </a:prstGeom>
          <a:noFill/>
          <a:ln/>
        </p:spPr>
        <p:txBody>
          <a:bodyPr wrap="square" rtlCol="0" anchor="ctr"/>
          <a:lstStyle/>
          <a:p>
            <a:pPr marL="0" indent="0">
              <a:lnSpc>
                <a:spcPts val="3200"/>
              </a:lnSpc>
              <a:buNone/>
            </a:pPr>
            <a:r>
              <a:rPr lang="en-US" sz="2600" b="1" dirty="0">
                <a:solidFill>
                  <a:srgbClr val="028090"/>
                </a:solidFill>
                <a:latin typeface="Times New Roman" panose="02020603050405020304" pitchFamily="18" charset="0"/>
                <a:ea typeface="Cambria" pitchFamily="34" charset="-122"/>
                <a:cs typeface="Times New Roman" panose="02020603050405020304" pitchFamily="18" charset="0"/>
              </a:rPr>
              <a:t>Thresholding a Fingerprint Image for Minutiae Extraction</a:t>
            </a:r>
            <a:endParaRPr lang="en-US" sz="2600" dirty="0">
              <a:latin typeface="Times New Roman" panose="02020603050405020304" pitchFamily="18" charset="0"/>
              <a:cs typeface="Times New Roman" panose="02020603050405020304" pitchFamily="18" charset="0"/>
            </a:endParaRPr>
          </a:p>
        </p:txBody>
      </p:sp>
      <p:sp>
        <p:nvSpPr>
          <p:cNvPr id="12" name="Text 10"/>
          <p:cNvSpPr/>
          <p:nvPr/>
        </p:nvSpPr>
        <p:spPr>
          <a:xfrm>
            <a:off x="640080" y="4251960"/>
            <a:ext cx="7680960" cy="731520"/>
          </a:xfrm>
          <a:prstGeom prst="rect">
            <a:avLst/>
          </a:prstGeom>
          <a:noFill/>
          <a:ln/>
        </p:spPr>
        <p:txBody>
          <a:bodyPr wrap="square" rtlCol="0" anchor="ctr"/>
          <a:lstStyle/>
          <a:p>
            <a:pPr marL="0" indent="0">
              <a:lnSpc>
                <a:spcPts val="2200"/>
              </a:lnSpc>
              <a:buNone/>
            </a:pPr>
            <a:r>
              <a:rPr lang="en-US" sz="1500" dirty="0">
                <a:solidFill>
                  <a:srgbClr val="36454F"/>
                </a:solidFill>
                <a:latin typeface="Times New Roman" panose="02020603050405020304" pitchFamily="18" charset="0"/>
                <a:ea typeface="Calibri" pitchFamily="34" charset="-122"/>
                <a:cs typeface="Times New Roman" panose="02020603050405020304" pitchFamily="18" charset="0"/>
              </a:rPr>
              <a:t>A complete image enhancement, segmentation, and skeletonization</a:t>
            </a:r>
            <a:endParaRPr lang="en-US" sz="1500" dirty="0">
              <a:latin typeface="Times New Roman" panose="02020603050405020304" pitchFamily="18" charset="0"/>
              <a:cs typeface="Times New Roman" panose="02020603050405020304" pitchFamily="18" charset="0"/>
            </a:endParaRPr>
          </a:p>
          <a:p>
            <a:pPr marL="0" indent="0">
              <a:lnSpc>
                <a:spcPts val="2200"/>
              </a:lnSpc>
              <a:buNone/>
            </a:pPr>
            <a:r>
              <a:rPr lang="en-US" sz="1500" dirty="0">
                <a:solidFill>
                  <a:srgbClr val="36454F"/>
                </a:solidFill>
                <a:latin typeface="Times New Roman" panose="02020603050405020304" pitchFamily="18" charset="0"/>
                <a:ea typeface="Calibri" pitchFamily="34" charset="-122"/>
                <a:cs typeface="Times New Roman" panose="02020603050405020304" pitchFamily="18" charset="0"/>
              </a:rPr>
              <a:t>pipeline using OpenCV for biometric minutiae detection.</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276186" y="5734128"/>
            <a:ext cx="9144000" cy="365760"/>
          </a:xfrm>
          <a:prstGeom prst="rect">
            <a:avLst/>
          </a:prstGeom>
          <a:noFill/>
          <a:ln/>
        </p:spPr>
        <p:txBody>
          <a:bodyPr wrap="square" rtlCol="0" anchor="ctr"/>
          <a:lstStyle/>
          <a:p>
            <a:pPr marL="0" indent="0">
              <a:buNone/>
            </a:pPr>
            <a:r>
              <a:rPr lang="en-US" sz="1500" dirty="0">
                <a:solidFill>
                  <a:srgbClr val="36454F"/>
                </a:solidFill>
                <a:latin typeface="Times New Roman" panose="02020603050405020304" pitchFamily="18" charset="0"/>
                <a:ea typeface="Calibri" pitchFamily="34" charset="-122"/>
                <a:cs typeface="Times New Roman" panose="02020603050405020304" pitchFamily="18" charset="0"/>
              </a:rPr>
              <a:t>B.Tech — Artificial Intelligence and Data Science  |  Digital Image Processing</a:t>
            </a:r>
            <a:endParaRPr lang="en-US" sz="15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DADDC0C-D532-B97F-7642-D4502A38EDCF}"/>
              </a:ext>
            </a:extLst>
          </p:cNvPr>
          <p:cNvSpPr txBox="1"/>
          <p:nvPr/>
        </p:nvSpPr>
        <p:spPr>
          <a:xfrm>
            <a:off x="8019102" y="4843921"/>
            <a:ext cx="3965510" cy="92333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NAME:.BALAJI</a:t>
            </a:r>
          </a:p>
          <a:p>
            <a:r>
              <a:rPr lang="en-IN" b="1" dirty="0">
                <a:latin typeface="Times New Roman" panose="02020603050405020304" pitchFamily="18" charset="0"/>
                <a:cs typeface="Times New Roman" panose="02020603050405020304" pitchFamily="18" charset="0"/>
              </a:rPr>
              <a:t>REG.NO:192324180</a:t>
            </a:r>
          </a:p>
          <a:p>
            <a:r>
              <a:rPr lang="en-IN" b="1" dirty="0">
                <a:latin typeface="Times New Roman" panose="02020603050405020304" pitchFamily="18" charset="0"/>
                <a:cs typeface="Times New Roman" panose="02020603050405020304" pitchFamily="18" charset="0"/>
              </a:rPr>
              <a:t>COURSE CODE:DSA0203</a:t>
            </a:r>
          </a:p>
        </p:txBody>
      </p:sp>
      <p:pic>
        <p:nvPicPr>
          <p:cNvPr id="16" name="Picture 1">
            <a:extLst>
              <a:ext uri="{FF2B5EF4-FFF2-40B4-BE49-F238E27FC236}">
                <a16:creationId xmlns:a16="http://schemas.microsoft.com/office/drawing/2014/main" id="{FF6E094C-EC5A-704A-B767-C1ED2C88F7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2225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9701" y="1166793"/>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640080" y="1737360"/>
            <a:ext cx="777240" cy="777240"/>
          </a:xfrm>
          <a:prstGeom prst="ellipse">
            <a:avLst/>
          </a:prstGeom>
          <a:solidFill>
            <a:srgbClr val="E3F3F2"/>
          </a:solidFill>
          <a:ln/>
        </p:spPr>
      </p:sp>
      <p:sp>
        <p:nvSpPr>
          <p:cNvPr id="5" name="Text 3"/>
          <p:cNvSpPr/>
          <p:nvPr/>
        </p:nvSpPr>
        <p:spPr>
          <a:xfrm>
            <a:off x="640080" y="1737360"/>
            <a:ext cx="777240" cy="777240"/>
          </a:xfrm>
          <a:prstGeom prst="rect">
            <a:avLst/>
          </a:prstGeom>
          <a:noFill/>
          <a:ln/>
        </p:spPr>
        <p:txBody>
          <a:bodyPr wrap="square"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691640" y="1691640"/>
            <a:ext cx="9784080" cy="914400"/>
          </a:xfrm>
          <a:prstGeom prst="rect">
            <a:avLst/>
          </a:prstGeom>
          <a:noFill/>
          <a:ln/>
        </p:spPr>
        <p:txBody>
          <a:bodyPr wrap="square" rtlCol="0" anchor="ctr"/>
          <a:lstStyle/>
          <a:p>
            <a:pPr marL="0" indent="0">
              <a:lnSpc>
                <a:spcPts val="2400"/>
              </a:lnSpc>
              <a:buNone/>
            </a:pPr>
            <a:r>
              <a:rPr lang="en-US" sz="1600" dirty="0">
                <a:solidFill>
                  <a:srgbClr val="36454F"/>
                </a:solidFill>
                <a:latin typeface="Calibri" pitchFamily="34" charset="0"/>
                <a:ea typeface="Calibri" pitchFamily="34" charset="-122"/>
                <a:cs typeface="Calibri" pitchFamily="34" charset="-120"/>
              </a:rPr>
              <a:t>Fingerprint scans captured by sensors often suffer from uneven ink pressure, smudges, dry or wet skin patches, and background noise. This means ridges and valleys are not always cleanly separated into dark and light regions.</a:t>
            </a:r>
            <a:endParaRPr lang="en-US" sz="1600" dirty="0"/>
          </a:p>
        </p:txBody>
      </p:sp>
      <p:sp>
        <p:nvSpPr>
          <p:cNvPr id="7" name="Shape 5"/>
          <p:cNvSpPr/>
          <p:nvPr/>
        </p:nvSpPr>
        <p:spPr>
          <a:xfrm>
            <a:off x="640080" y="2880360"/>
            <a:ext cx="777240" cy="777240"/>
          </a:xfrm>
          <a:prstGeom prst="ellipse">
            <a:avLst/>
          </a:prstGeom>
          <a:solidFill>
            <a:srgbClr val="E3F3F2"/>
          </a:solidFill>
          <a:ln/>
        </p:spPr>
      </p:sp>
      <p:sp>
        <p:nvSpPr>
          <p:cNvPr id="8" name="Text 6"/>
          <p:cNvSpPr/>
          <p:nvPr/>
        </p:nvSpPr>
        <p:spPr>
          <a:xfrm>
            <a:off x="640080" y="2880360"/>
            <a:ext cx="777240" cy="777240"/>
          </a:xfrm>
          <a:prstGeom prst="rect">
            <a:avLst/>
          </a:prstGeom>
          <a:noFill/>
          <a:ln/>
        </p:spPr>
        <p:txBody>
          <a:bodyPr wrap="square"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1691640" y="2834640"/>
            <a:ext cx="9784080" cy="822960"/>
          </a:xfrm>
          <a:prstGeom prst="rect">
            <a:avLst/>
          </a:prstGeom>
          <a:noFill/>
          <a:ln/>
        </p:spPr>
        <p:txBody>
          <a:bodyPr wrap="square" rtlCol="0" anchor="ctr"/>
          <a:lstStyle/>
          <a:p>
            <a:pPr marL="0" indent="0">
              <a:lnSpc>
                <a:spcPts val="2400"/>
              </a:lnSpc>
              <a:buNone/>
            </a:pPr>
            <a:r>
              <a:rPr lang="en-US" sz="1600" dirty="0">
                <a:solidFill>
                  <a:srgbClr val="36454F"/>
                </a:solidFill>
                <a:latin typeface="Calibri" pitchFamily="34" charset="0"/>
                <a:ea typeface="Calibri" pitchFamily="34" charset="-122"/>
                <a:cs typeface="Calibri" pitchFamily="34" charset="-120"/>
              </a:rPr>
              <a:t>Minutiae points (ridge endings and bifurcations) — the core features used for identification — can only be detected reliably from a clean, well-separated ridge structure.</a:t>
            </a:r>
            <a:endParaRPr lang="en-US" sz="1600" dirty="0"/>
          </a:p>
        </p:txBody>
      </p:sp>
      <p:sp>
        <p:nvSpPr>
          <p:cNvPr id="10" name="Shape 8"/>
          <p:cNvSpPr/>
          <p:nvPr/>
        </p:nvSpPr>
        <p:spPr>
          <a:xfrm>
            <a:off x="640080" y="3931920"/>
            <a:ext cx="777240" cy="777240"/>
          </a:xfrm>
          <a:prstGeom prst="ellipse">
            <a:avLst/>
          </a:prstGeom>
          <a:solidFill>
            <a:srgbClr val="E3F3F2"/>
          </a:solidFill>
          <a:ln/>
        </p:spPr>
      </p:sp>
      <p:sp>
        <p:nvSpPr>
          <p:cNvPr id="11" name="Text 9"/>
          <p:cNvSpPr/>
          <p:nvPr/>
        </p:nvSpPr>
        <p:spPr>
          <a:xfrm>
            <a:off x="640080" y="3931920"/>
            <a:ext cx="777240" cy="777240"/>
          </a:xfrm>
          <a:prstGeom prst="rect">
            <a:avLst/>
          </a:prstGeom>
          <a:noFill/>
          <a:ln/>
        </p:spPr>
        <p:txBody>
          <a:bodyPr wrap="square"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&gt;</a:t>
            </a:r>
            <a:endParaRPr lang="en-US" sz="2000" dirty="0"/>
          </a:p>
        </p:txBody>
      </p:sp>
      <p:sp>
        <p:nvSpPr>
          <p:cNvPr id="12" name="Text 10"/>
          <p:cNvSpPr/>
          <p:nvPr/>
        </p:nvSpPr>
        <p:spPr>
          <a:xfrm>
            <a:off x="1691640" y="3886200"/>
            <a:ext cx="9784080" cy="822960"/>
          </a:xfrm>
          <a:prstGeom prst="rect">
            <a:avLst/>
          </a:prstGeom>
          <a:noFill/>
          <a:ln/>
        </p:spPr>
        <p:txBody>
          <a:bodyPr wrap="square" rtlCol="0" anchor="ctr"/>
          <a:lstStyle/>
          <a:p>
            <a:pPr marL="0" indent="0">
              <a:lnSpc>
                <a:spcPts val="2400"/>
              </a:lnSpc>
              <a:buNone/>
            </a:pPr>
            <a:r>
              <a:rPr lang="en-US" sz="1600" b="1" dirty="0">
                <a:solidFill>
                  <a:srgbClr val="1E2761"/>
                </a:solidFill>
                <a:latin typeface="Calibri" pitchFamily="34" charset="0"/>
                <a:ea typeface="Calibri" pitchFamily="34" charset="-122"/>
                <a:cs typeface="Calibri" pitchFamily="34" charset="-120"/>
              </a:rPr>
              <a:t>Goal: Enhance and threshold the grayscale fingerprint image into a clean binary image, so ridge patterns are sharp enough for accurate minutiae extraction.</a:t>
            </a:r>
            <a:endParaRPr lang="en-US" sz="1600" dirty="0"/>
          </a:p>
        </p:txBody>
      </p:sp>
      <p:sp>
        <p:nvSpPr>
          <p:cNvPr id="13" name="Shape 11"/>
          <p:cNvSpPr/>
          <p:nvPr/>
        </p:nvSpPr>
        <p:spPr>
          <a:xfrm>
            <a:off x="548640" y="5074920"/>
            <a:ext cx="11064240" cy="1051560"/>
          </a:xfrm>
          <a:prstGeom prst="roundRect">
            <a:avLst>
              <a:gd name="adj" fmla="val 6957"/>
            </a:avLst>
          </a:prstGeom>
          <a:solidFill>
            <a:srgbClr val="E3F3F2"/>
          </a:solidFill>
          <a:ln/>
        </p:spPr>
      </p:sp>
      <p:sp>
        <p:nvSpPr>
          <p:cNvPr id="14" name="Text 12"/>
          <p:cNvSpPr/>
          <p:nvPr/>
        </p:nvSpPr>
        <p:spPr>
          <a:xfrm>
            <a:off x="822960" y="5074920"/>
            <a:ext cx="10515600" cy="1051560"/>
          </a:xfrm>
          <a:prstGeom prst="rect">
            <a:avLst/>
          </a:prstGeom>
          <a:noFill/>
          <a:ln/>
        </p:spPr>
        <p:txBody>
          <a:bodyPr wrap="square" rtlCol="0" anchor="ctr"/>
          <a:lstStyle/>
          <a:p>
            <a:pPr marL="0" indent="0" algn="ctr">
              <a:buNone/>
            </a:pPr>
            <a:r>
              <a:rPr lang="en-US" sz="1450" b="1" dirty="0">
                <a:solidFill>
                  <a:srgbClr val="1E2761"/>
                </a:solidFill>
                <a:latin typeface="Calibri" pitchFamily="34" charset="0"/>
                <a:ea typeface="Calibri" pitchFamily="34" charset="-122"/>
                <a:cs typeface="Calibri" pitchFamily="34" charset="-120"/>
              </a:rPr>
              <a:t>In short: Raw fingerprint image  →  Noise &amp; contrast problems  →  Enhancement + Thresholding  →  Clean ridge map  →  Minutiae extraction</a:t>
            </a:r>
            <a:endParaRPr lang="en-US" sz="1450" dirty="0"/>
          </a:p>
        </p:txBody>
      </p:sp>
      <p:sp>
        <p:nvSpPr>
          <p:cNvPr id="16" name="Text 1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2</a:t>
            </a:r>
            <a:endParaRPr lang="en-US" sz="900" dirty="0"/>
          </a:p>
        </p:txBody>
      </p:sp>
      <p:pic>
        <p:nvPicPr>
          <p:cNvPr id="18" name="Picture 1">
            <a:extLst>
              <a:ext uri="{FF2B5EF4-FFF2-40B4-BE49-F238E27FC236}">
                <a16:creationId xmlns:a16="http://schemas.microsoft.com/office/drawing/2014/main" id="{5EED730F-C0A9-36D3-CBB1-F5A9E9DCD1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2225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9309" y="112853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Image Enhancement Techniques</a:t>
            </a:r>
            <a:endParaRPr lang="en-US" sz="3000" dirty="0"/>
          </a:p>
        </p:txBody>
      </p:sp>
      <p:sp>
        <p:nvSpPr>
          <p:cNvPr id="3" name="Text 1"/>
          <p:cNvSpPr/>
          <p:nvPr/>
        </p:nvSpPr>
        <p:spPr>
          <a:xfrm>
            <a:off x="548640" y="1744591"/>
            <a:ext cx="11064240" cy="36576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Applied before segmentation to prepare the fingerprint image</a:t>
            </a:r>
            <a:endParaRPr lang="en-US" sz="1400" dirty="0"/>
          </a:p>
        </p:txBody>
      </p:sp>
      <p:sp>
        <p:nvSpPr>
          <p:cNvPr id="4" name="Shape 2"/>
          <p:cNvSpPr/>
          <p:nvPr/>
        </p:nvSpPr>
        <p:spPr>
          <a:xfrm>
            <a:off x="548640" y="2263140"/>
            <a:ext cx="3520440" cy="3771900"/>
          </a:xfrm>
          <a:prstGeom prst="roundRect">
            <a:avLst>
              <a:gd name="adj" fmla="val 2597"/>
            </a:avLst>
          </a:prstGeom>
          <a:solidFill>
            <a:srgbClr val="F2F2F2"/>
          </a:solidFill>
          <a:ln/>
        </p:spPr>
      </p:sp>
      <p:sp>
        <p:nvSpPr>
          <p:cNvPr id="5" name="Shape 3"/>
          <p:cNvSpPr/>
          <p:nvPr/>
        </p:nvSpPr>
        <p:spPr>
          <a:xfrm>
            <a:off x="822960" y="2263140"/>
            <a:ext cx="502920" cy="502920"/>
          </a:xfrm>
          <a:prstGeom prst="ellipse">
            <a:avLst/>
          </a:prstGeom>
          <a:solidFill>
            <a:srgbClr val="028090"/>
          </a:solidFill>
          <a:ln/>
        </p:spPr>
      </p:sp>
      <p:sp>
        <p:nvSpPr>
          <p:cNvPr id="6" name="Text 4"/>
          <p:cNvSpPr/>
          <p:nvPr/>
        </p:nvSpPr>
        <p:spPr>
          <a:xfrm>
            <a:off x="822960" y="2103120"/>
            <a:ext cx="502920" cy="502920"/>
          </a:xfrm>
          <a:prstGeom prst="rect">
            <a:avLst/>
          </a:prstGeom>
          <a:noFill/>
          <a:ln/>
        </p:spPr>
        <p:txBody>
          <a:bodyPr wrap="square" rtlCol="0" anchor="ctr"/>
          <a:lstStyle/>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77240" y="2743200"/>
            <a:ext cx="3063240" cy="822960"/>
          </a:xfrm>
          <a:prstGeom prst="rect">
            <a:avLst/>
          </a:prstGeom>
          <a:noFill/>
          <a:ln/>
        </p:spPr>
        <p:txBody>
          <a:bodyPr wrap="square" rtlCol="0" anchor="ctr"/>
          <a:lstStyle/>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Median Filtering</a:t>
            </a:r>
            <a:endParaRPr lang="en-US" sz="1700" dirty="0"/>
          </a:p>
        </p:txBody>
      </p:sp>
      <p:sp>
        <p:nvSpPr>
          <p:cNvPr id="8" name="Text 6"/>
          <p:cNvSpPr/>
          <p:nvPr/>
        </p:nvSpPr>
        <p:spPr>
          <a:xfrm>
            <a:off x="777240" y="3611880"/>
            <a:ext cx="3063240" cy="274320"/>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WHY IT IS USED</a:t>
            </a:r>
            <a:endParaRPr lang="en-US" sz="1000" dirty="0"/>
          </a:p>
        </p:txBody>
      </p:sp>
      <p:sp>
        <p:nvSpPr>
          <p:cNvPr id="9" name="Text 7"/>
          <p:cNvSpPr/>
          <p:nvPr/>
        </p:nvSpPr>
        <p:spPr>
          <a:xfrm>
            <a:off x="777240" y="3886200"/>
            <a:ext cx="3063240" cy="91440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Removes salt-and-pepper noise from dust or sensor dirt.</a:t>
            </a:r>
            <a:endParaRPr lang="en-US" sz="1250" dirty="0"/>
          </a:p>
        </p:txBody>
      </p:sp>
      <p:sp>
        <p:nvSpPr>
          <p:cNvPr id="10" name="Text 8"/>
          <p:cNvSpPr/>
          <p:nvPr/>
        </p:nvSpPr>
        <p:spPr>
          <a:xfrm>
            <a:off x="777240" y="4846320"/>
            <a:ext cx="3063240" cy="274320"/>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EXPECTED RESULT</a:t>
            </a:r>
            <a:endParaRPr lang="en-US" sz="1000" dirty="0"/>
          </a:p>
        </p:txBody>
      </p:sp>
      <p:sp>
        <p:nvSpPr>
          <p:cNvPr id="11" name="Text 9"/>
          <p:cNvSpPr/>
          <p:nvPr/>
        </p:nvSpPr>
        <p:spPr>
          <a:xfrm>
            <a:off x="777240" y="5120640"/>
            <a:ext cx="3063240" cy="82296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Cleaner image; ridge edges stay sharp.</a:t>
            </a:r>
            <a:endParaRPr lang="en-US" sz="1250" dirty="0"/>
          </a:p>
        </p:txBody>
      </p:sp>
      <p:sp>
        <p:nvSpPr>
          <p:cNvPr id="12" name="Shape 10"/>
          <p:cNvSpPr/>
          <p:nvPr/>
        </p:nvSpPr>
        <p:spPr>
          <a:xfrm>
            <a:off x="4343400" y="2263140"/>
            <a:ext cx="3520440" cy="3771900"/>
          </a:xfrm>
          <a:prstGeom prst="roundRect">
            <a:avLst>
              <a:gd name="adj" fmla="val 2597"/>
            </a:avLst>
          </a:prstGeom>
          <a:solidFill>
            <a:srgbClr val="E3F3F2"/>
          </a:solidFill>
          <a:ln/>
        </p:spPr>
      </p:sp>
      <p:sp>
        <p:nvSpPr>
          <p:cNvPr id="13" name="Shape 11"/>
          <p:cNvSpPr/>
          <p:nvPr/>
        </p:nvSpPr>
        <p:spPr>
          <a:xfrm>
            <a:off x="4594860" y="2308860"/>
            <a:ext cx="502920" cy="502920"/>
          </a:xfrm>
          <a:prstGeom prst="ellipse">
            <a:avLst/>
          </a:prstGeom>
          <a:solidFill>
            <a:srgbClr val="028090"/>
          </a:solidFill>
          <a:ln/>
        </p:spPr>
      </p:sp>
      <p:sp>
        <p:nvSpPr>
          <p:cNvPr id="14" name="Text 12"/>
          <p:cNvSpPr/>
          <p:nvPr/>
        </p:nvSpPr>
        <p:spPr>
          <a:xfrm>
            <a:off x="4617720" y="2103120"/>
            <a:ext cx="502920" cy="502920"/>
          </a:xfrm>
          <a:prstGeom prst="rect">
            <a:avLst/>
          </a:prstGeom>
          <a:noFill/>
          <a:ln/>
        </p:spPr>
        <p:txBody>
          <a:bodyPr wrap="square" rtlCol="0" anchor="ctr"/>
          <a:lstStyle/>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572000" y="2743200"/>
            <a:ext cx="3063240" cy="822960"/>
          </a:xfrm>
          <a:prstGeom prst="rect">
            <a:avLst/>
          </a:prstGeom>
          <a:noFill/>
          <a:ln/>
        </p:spPr>
        <p:txBody>
          <a:bodyPr wrap="square" rtlCol="0" anchor="ctr"/>
          <a:lstStyle/>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CLAHE</a:t>
            </a:r>
            <a:endParaRPr lang="en-US" sz="1700" dirty="0"/>
          </a:p>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(Contrast Enhancement)</a:t>
            </a:r>
            <a:endParaRPr lang="en-US" sz="1700" dirty="0"/>
          </a:p>
        </p:txBody>
      </p:sp>
      <p:sp>
        <p:nvSpPr>
          <p:cNvPr id="16" name="Text 14"/>
          <p:cNvSpPr/>
          <p:nvPr/>
        </p:nvSpPr>
        <p:spPr>
          <a:xfrm>
            <a:off x="4572000" y="3611880"/>
            <a:ext cx="3063240" cy="274320"/>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WHY IT IS USED</a:t>
            </a:r>
            <a:endParaRPr lang="en-US" sz="1000" dirty="0"/>
          </a:p>
        </p:txBody>
      </p:sp>
      <p:sp>
        <p:nvSpPr>
          <p:cNvPr id="17" name="Text 15"/>
          <p:cNvSpPr/>
          <p:nvPr/>
        </p:nvSpPr>
        <p:spPr>
          <a:xfrm>
            <a:off x="4572000" y="3886200"/>
            <a:ext cx="3063240" cy="91440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Boosts local contrast where pressure was uneven.</a:t>
            </a:r>
            <a:endParaRPr lang="en-US" sz="1250" dirty="0"/>
          </a:p>
        </p:txBody>
      </p:sp>
      <p:sp>
        <p:nvSpPr>
          <p:cNvPr id="18" name="Text 16"/>
          <p:cNvSpPr/>
          <p:nvPr/>
        </p:nvSpPr>
        <p:spPr>
          <a:xfrm>
            <a:off x="4572000" y="4846320"/>
            <a:ext cx="3063240" cy="274320"/>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EXPECTED RESULT</a:t>
            </a:r>
            <a:endParaRPr lang="en-US" sz="1000" dirty="0"/>
          </a:p>
        </p:txBody>
      </p:sp>
      <p:sp>
        <p:nvSpPr>
          <p:cNvPr id="19" name="Text 17"/>
          <p:cNvSpPr/>
          <p:nvPr/>
        </p:nvSpPr>
        <p:spPr>
          <a:xfrm>
            <a:off x="4572000" y="5120640"/>
            <a:ext cx="3063240" cy="82296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Faint ridges become clearly visible.</a:t>
            </a:r>
            <a:endParaRPr lang="en-US" sz="1250" dirty="0"/>
          </a:p>
        </p:txBody>
      </p:sp>
      <p:sp>
        <p:nvSpPr>
          <p:cNvPr id="20" name="Shape 18"/>
          <p:cNvSpPr/>
          <p:nvPr/>
        </p:nvSpPr>
        <p:spPr>
          <a:xfrm>
            <a:off x="8138160" y="2263140"/>
            <a:ext cx="3520440" cy="3771900"/>
          </a:xfrm>
          <a:prstGeom prst="roundRect">
            <a:avLst>
              <a:gd name="adj" fmla="val 2597"/>
            </a:avLst>
          </a:prstGeom>
          <a:solidFill>
            <a:srgbClr val="F2F2F2"/>
          </a:solidFill>
          <a:ln/>
        </p:spPr>
      </p:sp>
      <p:sp>
        <p:nvSpPr>
          <p:cNvPr id="21" name="Shape 19"/>
          <p:cNvSpPr/>
          <p:nvPr/>
        </p:nvSpPr>
        <p:spPr>
          <a:xfrm>
            <a:off x="8412480" y="2302795"/>
            <a:ext cx="502920" cy="502920"/>
          </a:xfrm>
          <a:prstGeom prst="ellipse">
            <a:avLst/>
          </a:prstGeom>
          <a:solidFill>
            <a:srgbClr val="028090"/>
          </a:solidFill>
          <a:ln/>
        </p:spPr>
      </p:sp>
      <p:sp>
        <p:nvSpPr>
          <p:cNvPr id="22" name="Text 20"/>
          <p:cNvSpPr/>
          <p:nvPr/>
        </p:nvSpPr>
        <p:spPr>
          <a:xfrm>
            <a:off x="8412480" y="2321923"/>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8366760" y="2743200"/>
            <a:ext cx="3063240" cy="822960"/>
          </a:xfrm>
          <a:prstGeom prst="rect">
            <a:avLst/>
          </a:prstGeom>
          <a:noFill/>
          <a:ln/>
        </p:spPr>
        <p:txBody>
          <a:bodyPr wrap="square" rtlCol="0" anchor="ctr"/>
          <a:lstStyle/>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Gabor Filtering</a:t>
            </a:r>
            <a:endParaRPr lang="en-US" sz="1700" dirty="0"/>
          </a:p>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(Optional)</a:t>
            </a:r>
            <a:endParaRPr lang="en-US" sz="1700" dirty="0"/>
          </a:p>
        </p:txBody>
      </p:sp>
      <p:sp>
        <p:nvSpPr>
          <p:cNvPr id="24" name="Text 22"/>
          <p:cNvSpPr/>
          <p:nvPr/>
        </p:nvSpPr>
        <p:spPr>
          <a:xfrm>
            <a:off x="8366760" y="3611880"/>
            <a:ext cx="3063240" cy="274320"/>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WHY IT IS USED</a:t>
            </a:r>
            <a:endParaRPr lang="en-US" sz="1000" dirty="0"/>
          </a:p>
        </p:txBody>
      </p:sp>
      <p:sp>
        <p:nvSpPr>
          <p:cNvPr id="25" name="Text 23"/>
          <p:cNvSpPr/>
          <p:nvPr/>
        </p:nvSpPr>
        <p:spPr>
          <a:xfrm>
            <a:off x="8366760" y="3886200"/>
            <a:ext cx="3063240" cy="91440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Tuned to ridge orientation &amp; frequency.</a:t>
            </a:r>
            <a:endParaRPr lang="en-US" sz="1250" dirty="0"/>
          </a:p>
        </p:txBody>
      </p:sp>
      <p:sp>
        <p:nvSpPr>
          <p:cNvPr id="26" name="Text 24"/>
          <p:cNvSpPr/>
          <p:nvPr/>
        </p:nvSpPr>
        <p:spPr>
          <a:xfrm>
            <a:off x="8366760" y="4846320"/>
            <a:ext cx="3063240" cy="274320"/>
          </a:xfrm>
          <a:prstGeom prst="rect">
            <a:avLst/>
          </a:prstGeom>
          <a:noFill/>
          <a:ln/>
        </p:spPr>
        <p:txBody>
          <a:bodyPr wrap="square" rtlCol="0" anchor="ctr"/>
          <a:lstStyle/>
          <a:p>
            <a:pPr marL="0" indent="0">
              <a:buNone/>
            </a:pPr>
            <a:r>
              <a:rPr lang="en-US" sz="1000" b="1" kern="0" spc="100" dirty="0">
                <a:solidFill>
                  <a:srgbClr val="00A896"/>
                </a:solidFill>
                <a:latin typeface="Calibri" pitchFamily="34" charset="0"/>
                <a:ea typeface="Calibri" pitchFamily="34" charset="-122"/>
                <a:cs typeface="Calibri" pitchFamily="34" charset="-120"/>
              </a:rPr>
              <a:t>EXPECTED RESULT</a:t>
            </a:r>
            <a:endParaRPr lang="en-US" sz="1000" dirty="0"/>
          </a:p>
        </p:txBody>
      </p:sp>
      <p:sp>
        <p:nvSpPr>
          <p:cNvPr id="27" name="Text 25"/>
          <p:cNvSpPr/>
          <p:nvPr/>
        </p:nvSpPr>
        <p:spPr>
          <a:xfrm>
            <a:off x="8366760" y="5120640"/>
            <a:ext cx="3063240" cy="82296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Smoother, more continuous ridges.</a:t>
            </a:r>
            <a:endParaRPr lang="en-US" sz="1250" dirty="0"/>
          </a:p>
        </p:txBody>
      </p:sp>
      <p:sp>
        <p:nvSpPr>
          <p:cNvPr id="29" name="Text 27"/>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3</a:t>
            </a:r>
            <a:endParaRPr lang="en-US" sz="900" dirty="0"/>
          </a:p>
        </p:txBody>
      </p:sp>
      <p:pic>
        <p:nvPicPr>
          <p:cNvPr id="31" name="Picture 1">
            <a:extLst>
              <a:ext uri="{FF2B5EF4-FFF2-40B4-BE49-F238E27FC236}">
                <a16:creationId xmlns:a16="http://schemas.microsoft.com/office/drawing/2014/main" id="{632EA3A4-E992-6266-6377-10E229BCAD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2225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3880" y="1234440"/>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Segmentation Techniques</a:t>
            </a:r>
            <a:endParaRPr lang="en-US" sz="3000" dirty="0"/>
          </a:p>
        </p:txBody>
      </p:sp>
      <p:sp>
        <p:nvSpPr>
          <p:cNvPr id="3" name="Text 1"/>
          <p:cNvSpPr/>
          <p:nvPr/>
        </p:nvSpPr>
        <p:spPr>
          <a:xfrm>
            <a:off x="563880" y="1750423"/>
            <a:ext cx="11064240" cy="36576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Converting the enhanced image into a clean ridge/valley binary map</a:t>
            </a:r>
            <a:endParaRPr lang="en-US" sz="1400" dirty="0"/>
          </a:p>
        </p:txBody>
      </p:sp>
      <p:sp>
        <p:nvSpPr>
          <p:cNvPr id="4" name="Shape 2"/>
          <p:cNvSpPr/>
          <p:nvPr/>
        </p:nvSpPr>
        <p:spPr>
          <a:xfrm>
            <a:off x="548640" y="2304660"/>
            <a:ext cx="3520440" cy="3730379"/>
          </a:xfrm>
          <a:prstGeom prst="roundRect">
            <a:avLst>
              <a:gd name="adj" fmla="val 2597"/>
            </a:avLst>
          </a:prstGeom>
          <a:solidFill>
            <a:srgbClr val="F2F2F2"/>
          </a:solidFill>
          <a:ln/>
        </p:spPr>
      </p:sp>
      <p:sp>
        <p:nvSpPr>
          <p:cNvPr id="5" name="Shape 3"/>
          <p:cNvSpPr/>
          <p:nvPr/>
        </p:nvSpPr>
        <p:spPr>
          <a:xfrm>
            <a:off x="822960" y="2377440"/>
            <a:ext cx="502920" cy="502920"/>
          </a:xfrm>
          <a:prstGeom prst="ellipse">
            <a:avLst/>
          </a:prstGeom>
          <a:solidFill>
            <a:srgbClr val="1E2761"/>
          </a:solidFill>
          <a:ln/>
        </p:spPr>
      </p:sp>
      <p:sp>
        <p:nvSpPr>
          <p:cNvPr id="6" name="Text 4"/>
          <p:cNvSpPr/>
          <p:nvPr/>
        </p:nvSpPr>
        <p:spPr>
          <a:xfrm>
            <a:off x="822960" y="2103120"/>
            <a:ext cx="502920" cy="502920"/>
          </a:xfrm>
          <a:prstGeom prst="rect">
            <a:avLst/>
          </a:prstGeom>
          <a:noFill/>
          <a:ln/>
        </p:spPr>
        <p:txBody>
          <a:bodyPr wrap="square" rtlCol="0" anchor="ctr"/>
          <a:lstStyle/>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77240" y="2743200"/>
            <a:ext cx="3063240" cy="822960"/>
          </a:xfrm>
          <a:prstGeom prst="rect">
            <a:avLst/>
          </a:prstGeom>
          <a:noFill/>
          <a:ln/>
        </p:spPr>
        <p:txBody>
          <a:bodyPr wrap="square" rtlCol="0" anchor="ctr"/>
          <a:lstStyle/>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Otsu's Global</a:t>
            </a:r>
            <a:endParaRPr lang="en-US" sz="1700" dirty="0"/>
          </a:p>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Thresholding</a:t>
            </a:r>
            <a:endParaRPr lang="en-US" sz="1700" dirty="0"/>
          </a:p>
        </p:txBody>
      </p:sp>
      <p:sp>
        <p:nvSpPr>
          <p:cNvPr id="8" name="Text 6"/>
          <p:cNvSpPr/>
          <p:nvPr/>
        </p:nvSpPr>
        <p:spPr>
          <a:xfrm>
            <a:off x="777240" y="3611880"/>
            <a:ext cx="3063240" cy="274320"/>
          </a:xfrm>
          <a:prstGeom prst="rect">
            <a:avLst/>
          </a:prstGeom>
          <a:noFill/>
          <a:ln/>
        </p:spPr>
        <p:txBody>
          <a:bodyPr wrap="square" rtlCol="0" anchor="ctr"/>
          <a:lstStyle/>
          <a:p>
            <a:pPr marL="0" indent="0">
              <a:buNone/>
            </a:pPr>
            <a:r>
              <a:rPr lang="en-US" sz="1000" b="1" kern="0" spc="100" dirty="0">
                <a:solidFill>
                  <a:srgbClr val="028090"/>
                </a:solidFill>
                <a:latin typeface="Calibri" pitchFamily="34" charset="0"/>
                <a:ea typeface="Calibri" pitchFamily="34" charset="-122"/>
                <a:cs typeface="Calibri" pitchFamily="34" charset="-120"/>
              </a:rPr>
              <a:t>WHY IT IS USED</a:t>
            </a:r>
            <a:endParaRPr lang="en-US" sz="1000" dirty="0"/>
          </a:p>
        </p:txBody>
      </p:sp>
      <p:sp>
        <p:nvSpPr>
          <p:cNvPr id="9" name="Text 7"/>
          <p:cNvSpPr/>
          <p:nvPr/>
        </p:nvSpPr>
        <p:spPr>
          <a:xfrm>
            <a:off x="777240" y="3886200"/>
            <a:ext cx="3063240" cy="91440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Automatically finds the best single threshold from a bimodal histogram.</a:t>
            </a:r>
            <a:endParaRPr lang="en-US" sz="1250" dirty="0"/>
          </a:p>
        </p:txBody>
      </p:sp>
      <p:sp>
        <p:nvSpPr>
          <p:cNvPr id="10" name="Text 8"/>
          <p:cNvSpPr/>
          <p:nvPr/>
        </p:nvSpPr>
        <p:spPr>
          <a:xfrm>
            <a:off x="777240" y="4846320"/>
            <a:ext cx="3063240" cy="274320"/>
          </a:xfrm>
          <a:prstGeom prst="rect">
            <a:avLst/>
          </a:prstGeom>
          <a:noFill/>
          <a:ln/>
        </p:spPr>
        <p:txBody>
          <a:bodyPr wrap="square" rtlCol="0" anchor="ctr"/>
          <a:lstStyle/>
          <a:p>
            <a:pPr marL="0" indent="0">
              <a:buNone/>
            </a:pPr>
            <a:r>
              <a:rPr lang="en-US" sz="1000" b="1" kern="0" spc="100" dirty="0">
                <a:solidFill>
                  <a:srgbClr val="028090"/>
                </a:solidFill>
                <a:latin typeface="Calibri" pitchFamily="34" charset="0"/>
                <a:ea typeface="Calibri" pitchFamily="34" charset="-122"/>
                <a:cs typeface="Calibri" pitchFamily="34" charset="-120"/>
              </a:rPr>
              <a:t>EXPECTED RESULT</a:t>
            </a:r>
            <a:endParaRPr lang="en-US" sz="1000" dirty="0"/>
          </a:p>
        </p:txBody>
      </p:sp>
      <p:sp>
        <p:nvSpPr>
          <p:cNvPr id="11" name="Text 9"/>
          <p:cNvSpPr/>
          <p:nvPr/>
        </p:nvSpPr>
        <p:spPr>
          <a:xfrm>
            <a:off x="777240" y="5120640"/>
            <a:ext cx="3063240" cy="82296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Binary image separating ridges (foreground) from valleys.</a:t>
            </a:r>
            <a:endParaRPr lang="en-US" sz="1250" dirty="0"/>
          </a:p>
        </p:txBody>
      </p:sp>
      <p:sp>
        <p:nvSpPr>
          <p:cNvPr id="12" name="Shape 10"/>
          <p:cNvSpPr/>
          <p:nvPr/>
        </p:nvSpPr>
        <p:spPr>
          <a:xfrm>
            <a:off x="4343400" y="2304660"/>
            <a:ext cx="3520440" cy="3730380"/>
          </a:xfrm>
          <a:prstGeom prst="roundRect">
            <a:avLst>
              <a:gd name="adj" fmla="val 2597"/>
            </a:avLst>
          </a:prstGeom>
          <a:solidFill>
            <a:srgbClr val="E3F3F2"/>
          </a:solidFill>
          <a:ln/>
        </p:spPr>
      </p:sp>
      <p:sp>
        <p:nvSpPr>
          <p:cNvPr id="13" name="Shape 11"/>
          <p:cNvSpPr/>
          <p:nvPr/>
        </p:nvSpPr>
        <p:spPr>
          <a:xfrm>
            <a:off x="4617720" y="2354580"/>
            <a:ext cx="502920" cy="502920"/>
          </a:xfrm>
          <a:prstGeom prst="ellipse">
            <a:avLst/>
          </a:prstGeom>
          <a:solidFill>
            <a:srgbClr val="1E2761"/>
          </a:solidFill>
          <a:ln/>
        </p:spPr>
      </p:sp>
      <p:sp>
        <p:nvSpPr>
          <p:cNvPr id="14" name="Text 12"/>
          <p:cNvSpPr/>
          <p:nvPr/>
        </p:nvSpPr>
        <p:spPr>
          <a:xfrm>
            <a:off x="4617720" y="2103120"/>
            <a:ext cx="502920" cy="502920"/>
          </a:xfrm>
          <a:prstGeom prst="rect">
            <a:avLst/>
          </a:prstGeom>
          <a:noFill/>
          <a:ln/>
        </p:spPr>
        <p:txBody>
          <a:bodyPr wrap="square" rtlCol="0" anchor="ctr"/>
          <a:lstStyle/>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572000" y="2743200"/>
            <a:ext cx="3063240" cy="822960"/>
          </a:xfrm>
          <a:prstGeom prst="rect">
            <a:avLst/>
          </a:prstGeom>
          <a:noFill/>
          <a:ln/>
        </p:spPr>
        <p:txBody>
          <a:bodyPr wrap="square" rtlCol="0" anchor="ctr"/>
          <a:lstStyle/>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Adaptive (Local)</a:t>
            </a:r>
            <a:endParaRPr lang="en-US" sz="1700" dirty="0"/>
          </a:p>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Thresholding</a:t>
            </a:r>
            <a:endParaRPr lang="en-US" sz="1700" dirty="0"/>
          </a:p>
        </p:txBody>
      </p:sp>
      <p:sp>
        <p:nvSpPr>
          <p:cNvPr id="16" name="Text 14"/>
          <p:cNvSpPr/>
          <p:nvPr/>
        </p:nvSpPr>
        <p:spPr>
          <a:xfrm>
            <a:off x="4572000" y="3611880"/>
            <a:ext cx="3063240" cy="274320"/>
          </a:xfrm>
          <a:prstGeom prst="rect">
            <a:avLst/>
          </a:prstGeom>
          <a:noFill/>
          <a:ln/>
        </p:spPr>
        <p:txBody>
          <a:bodyPr wrap="square" rtlCol="0" anchor="ctr"/>
          <a:lstStyle/>
          <a:p>
            <a:pPr marL="0" indent="0">
              <a:buNone/>
            </a:pPr>
            <a:r>
              <a:rPr lang="en-US" sz="1000" b="1" kern="0" spc="100" dirty="0">
                <a:solidFill>
                  <a:srgbClr val="028090"/>
                </a:solidFill>
                <a:latin typeface="Calibri" pitchFamily="34" charset="0"/>
                <a:ea typeface="Calibri" pitchFamily="34" charset="-122"/>
                <a:cs typeface="Calibri" pitchFamily="34" charset="-120"/>
              </a:rPr>
              <a:t>WHY IT IS USED</a:t>
            </a:r>
            <a:endParaRPr lang="en-US" sz="1000" dirty="0"/>
          </a:p>
        </p:txBody>
      </p:sp>
      <p:sp>
        <p:nvSpPr>
          <p:cNvPr id="17" name="Text 15"/>
          <p:cNvSpPr/>
          <p:nvPr/>
        </p:nvSpPr>
        <p:spPr>
          <a:xfrm>
            <a:off x="4572000" y="3886200"/>
            <a:ext cx="3063240" cy="91440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Compensates for uneven illumination across the fingerprint.</a:t>
            </a:r>
            <a:endParaRPr lang="en-US" sz="1250" dirty="0"/>
          </a:p>
        </p:txBody>
      </p:sp>
      <p:sp>
        <p:nvSpPr>
          <p:cNvPr id="18" name="Text 16"/>
          <p:cNvSpPr/>
          <p:nvPr/>
        </p:nvSpPr>
        <p:spPr>
          <a:xfrm>
            <a:off x="4572000" y="4846320"/>
            <a:ext cx="3063240" cy="274320"/>
          </a:xfrm>
          <a:prstGeom prst="rect">
            <a:avLst/>
          </a:prstGeom>
          <a:noFill/>
          <a:ln/>
        </p:spPr>
        <p:txBody>
          <a:bodyPr wrap="square" rtlCol="0" anchor="ctr"/>
          <a:lstStyle/>
          <a:p>
            <a:pPr marL="0" indent="0">
              <a:buNone/>
            </a:pPr>
            <a:r>
              <a:rPr lang="en-US" sz="1000" b="1" kern="0" spc="100" dirty="0">
                <a:solidFill>
                  <a:srgbClr val="028090"/>
                </a:solidFill>
                <a:latin typeface="Calibri" pitchFamily="34" charset="0"/>
                <a:ea typeface="Calibri" pitchFamily="34" charset="-122"/>
                <a:cs typeface="Calibri" pitchFamily="34" charset="-120"/>
              </a:rPr>
              <a:t>EXPECTED RESULT</a:t>
            </a:r>
            <a:endParaRPr lang="en-US" sz="1000" dirty="0"/>
          </a:p>
        </p:txBody>
      </p:sp>
      <p:sp>
        <p:nvSpPr>
          <p:cNvPr id="19" name="Text 17"/>
          <p:cNvSpPr/>
          <p:nvPr/>
        </p:nvSpPr>
        <p:spPr>
          <a:xfrm>
            <a:off x="4572000" y="5120640"/>
            <a:ext cx="3063240" cy="82296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Accurate binary image even in unevenly lit regions.</a:t>
            </a:r>
            <a:endParaRPr lang="en-US" sz="1250" dirty="0"/>
          </a:p>
        </p:txBody>
      </p:sp>
      <p:sp>
        <p:nvSpPr>
          <p:cNvPr id="20" name="Shape 18"/>
          <p:cNvSpPr/>
          <p:nvPr/>
        </p:nvSpPr>
        <p:spPr>
          <a:xfrm>
            <a:off x="8138160" y="2220686"/>
            <a:ext cx="3520440" cy="3814354"/>
          </a:xfrm>
          <a:prstGeom prst="roundRect">
            <a:avLst>
              <a:gd name="adj" fmla="val 2597"/>
            </a:avLst>
          </a:prstGeom>
          <a:solidFill>
            <a:srgbClr val="F2F2F2"/>
          </a:solidFill>
          <a:ln/>
        </p:spPr>
      </p:sp>
      <p:sp>
        <p:nvSpPr>
          <p:cNvPr id="21" name="Shape 19"/>
          <p:cNvSpPr/>
          <p:nvPr/>
        </p:nvSpPr>
        <p:spPr>
          <a:xfrm>
            <a:off x="8412480" y="2377440"/>
            <a:ext cx="502920" cy="502920"/>
          </a:xfrm>
          <a:prstGeom prst="ellipse">
            <a:avLst/>
          </a:prstGeom>
          <a:solidFill>
            <a:srgbClr val="1E2761"/>
          </a:solidFill>
          <a:ln/>
        </p:spPr>
      </p:sp>
      <p:sp>
        <p:nvSpPr>
          <p:cNvPr id="22" name="Text 20"/>
          <p:cNvSpPr/>
          <p:nvPr/>
        </p:nvSpPr>
        <p:spPr>
          <a:xfrm>
            <a:off x="8412480" y="2103120"/>
            <a:ext cx="502920" cy="502920"/>
          </a:xfrm>
          <a:prstGeom prst="rect">
            <a:avLst/>
          </a:prstGeom>
          <a:noFill/>
          <a:ln/>
        </p:spPr>
        <p:txBody>
          <a:bodyPr wrap="square" rtlCol="0" anchor="ctr"/>
          <a:lstStyle/>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8366760" y="2743200"/>
            <a:ext cx="3063240" cy="822960"/>
          </a:xfrm>
          <a:prstGeom prst="rect">
            <a:avLst/>
          </a:prstGeom>
          <a:noFill/>
          <a:ln/>
        </p:spPr>
        <p:txBody>
          <a:bodyPr wrap="square" rtlCol="0" anchor="ctr"/>
          <a:lstStyle/>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Morphological</a:t>
            </a:r>
            <a:endParaRPr lang="en-US" sz="1700" dirty="0"/>
          </a:p>
          <a:p>
            <a:pPr marL="0" indent="0">
              <a:lnSpc>
                <a:spcPts val="2000"/>
              </a:lnSpc>
              <a:buNone/>
            </a:pPr>
            <a:r>
              <a:rPr lang="en-US" sz="1700" b="1" dirty="0">
                <a:solidFill>
                  <a:srgbClr val="1E2761"/>
                </a:solidFill>
                <a:latin typeface="Cambria" pitchFamily="34" charset="0"/>
                <a:ea typeface="Cambria" pitchFamily="34" charset="-122"/>
                <a:cs typeface="Cambria" pitchFamily="34" charset="-120"/>
              </a:rPr>
              <a:t>Thinning</a:t>
            </a:r>
            <a:endParaRPr lang="en-US" sz="1700" dirty="0"/>
          </a:p>
        </p:txBody>
      </p:sp>
      <p:sp>
        <p:nvSpPr>
          <p:cNvPr id="24" name="Text 22"/>
          <p:cNvSpPr/>
          <p:nvPr/>
        </p:nvSpPr>
        <p:spPr>
          <a:xfrm>
            <a:off x="8366760" y="3611880"/>
            <a:ext cx="3063240" cy="274320"/>
          </a:xfrm>
          <a:prstGeom prst="rect">
            <a:avLst/>
          </a:prstGeom>
          <a:noFill/>
          <a:ln/>
        </p:spPr>
        <p:txBody>
          <a:bodyPr wrap="square" rtlCol="0" anchor="ctr"/>
          <a:lstStyle/>
          <a:p>
            <a:pPr marL="0" indent="0">
              <a:buNone/>
            </a:pPr>
            <a:r>
              <a:rPr lang="en-US" sz="1000" b="1" kern="0" spc="100" dirty="0">
                <a:solidFill>
                  <a:srgbClr val="028090"/>
                </a:solidFill>
                <a:latin typeface="Calibri" pitchFamily="34" charset="0"/>
                <a:ea typeface="Calibri" pitchFamily="34" charset="-122"/>
                <a:cs typeface="Calibri" pitchFamily="34" charset="-120"/>
              </a:rPr>
              <a:t>WHY IT IS USED</a:t>
            </a:r>
            <a:endParaRPr lang="en-US" sz="1000" dirty="0"/>
          </a:p>
        </p:txBody>
      </p:sp>
      <p:sp>
        <p:nvSpPr>
          <p:cNvPr id="25" name="Text 23"/>
          <p:cNvSpPr/>
          <p:nvPr/>
        </p:nvSpPr>
        <p:spPr>
          <a:xfrm>
            <a:off x="8366760" y="3886200"/>
            <a:ext cx="3063240" cy="91440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Reduces thick ridges to a single-pixel-wide skeleton.</a:t>
            </a:r>
            <a:endParaRPr lang="en-US" sz="1250" dirty="0"/>
          </a:p>
        </p:txBody>
      </p:sp>
      <p:sp>
        <p:nvSpPr>
          <p:cNvPr id="26" name="Text 24"/>
          <p:cNvSpPr/>
          <p:nvPr/>
        </p:nvSpPr>
        <p:spPr>
          <a:xfrm>
            <a:off x="8366760" y="4846320"/>
            <a:ext cx="3063240" cy="274320"/>
          </a:xfrm>
          <a:prstGeom prst="rect">
            <a:avLst/>
          </a:prstGeom>
          <a:noFill/>
          <a:ln/>
        </p:spPr>
        <p:txBody>
          <a:bodyPr wrap="square" rtlCol="0" anchor="ctr"/>
          <a:lstStyle/>
          <a:p>
            <a:pPr marL="0" indent="0">
              <a:buNone/>
            </a:pPr>
            <a:r>
              <a:rPr lang="en-US" sz="1000" b="1" kern="0" spc="100" dirty="0">
                <a:solidFill>
                  <a:srgbClr val="028090"/>
                </a:solidFill>
                <a:latin typeface="Calibri" pitchFamily="34" charset="0"/>
                <a:ea typeface="Calibri" pitchFamily="34" charset="-122"/>
                <a:cs typeface="Calibri" pitchFamily="34" charset="-120"/>
              </a:rPr>
              <a:t>EXPECTED RESULT</a:t>
            </a:r>
            <a:endParaRPr lang="en-US" sz="1000" dirty="0"/>
          </a:p>
        </p:txBody>
      </p:sp>
      <p:sp>
        <p:nvSpPr>
          <p:cNvPr id="27" name="Text 25"/>
          <p:cNvSpPr/>
          <p:nvPr/>
        </p:nvSpPr>
        <p:spPr>
          <a:xfrm>
            <a:off x="8366760" y="5120640"/>
            <a:ext cx="3063240" cy="822960"/>
          </a:xfrm>
          <a:prstGeom prst="rect">
            <a:avLst/>
          </a:prstGeom>
          <a:noFill/>
          <a:ln/>
        </p:spPr>
        <p:txBody>
          <a:bodyPr wrap="square" rtlCol="0" anchor="ctr"/>
          <a:lstStyle/>
          <a:p>
            <a:pPr marL="0" indent="0">
              <a:lnSpc>
                <a:spcPts val="1600"/>
              </a:lnSpc>
              <a:buNone/>
            </a:pPr>
            <a:r>
              <a:rPr lang="en-US" sz="1250" dirty="0">
                <a:solidFill>
                  <a:srgbClr val="36454F"/>
                </a:solidFill>
                <a:latin typeface="Calibri" pitchFamily="34" charset="0"/>
                <a:ea typeface="Calibri" pitchFamily="34" charset="-122"/>
                <a:cs typeface="Calibri" pitchFamily="34" charset="-120"/>
              </a:rPr>
              <a:t>Thin ridge lines ready for minutiae detection.</a:t>
            </a:r>
            <a:endParaRPr lang="en-US" sz="1250" dirty="0"/>
          </a:p>
        </p:txBody>
      </p:sp>
      <p:sp>
        <p:nvSpPr>
          <p:cNvPr id="29" name="Text 27"/>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4</a:t>
            </a:r>
            <a:endParaRPr lang="en-US" sz="900" dirty="0"/>
          </a:p>
        </p:txBody>
      </p:sp>
      <p:pic>
        <p:nvPicPr>
          <p:cNvPr id="31" name="Picture 1">
            <a:extLst>
              <a:ext uri="{FF2B5EF4-FFF2-40B4-BE49-F238E27FC236}">
                <a16:creationId xmlns:a16="http://schemas.microsoft.com/office/drawing/2014/main" id="{23163C6F-FE88-C246-11CC-FB7A2B2BF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2225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122473"/>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Step-by-Step Workflow</a:t>
            </a:r>
            <a:endParaRPr lang="en-US" sz="3000" dirty="0"/>
          </a:p>
        </p:txBody>
      </p:sp>
      <p:sp>
        <p:nvSpPr>
          <p:cNvPr id="3" name="Text 1"/>
          <p:cNvSpPr/>
          <p:nvPr/>
        </p:nvSpPr>
        <p:spPr>
          <a:xfrm>
            <a:off x="548640" y="1554480"/>
            <a:ext cx="11064240" cy="36576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Complete pipeline from input image to minutiae output</a:t>
            </a:r>
            <a:endParaRPr lang="en-US" sz="1400" dirty="0"/>
          </a:p>
        </p:txBody>
      </p:sp>
      <p:sp>
        <p:nvSpPr>
          <p:cNvPr id="4" name="Shape 2"/>
          <p:cNvSpPr/>
          <p:nvPr/>
        </p:nvSpPr>
        <p:spPr>
          <a:xfrm>
            <a:off x="594360" y="1920240"/>
            <a:ext cx="2057400" cy="1051560"/>
          </a:xfrm>
          <a:prstGeom prst="roundRect">
            <a:avLst>
              <a:gd name="adj" fmla="val 7826"/>
            </a:avLst>
          </a:prstGeom>
          <a:solidFill>
            <a:srgbClr val="028090"/>
          </a:solidFill>
          <a:ln/>
        </p:spPr>
      </p:sp>
      <p:sp>
        <p:nvSpPr>
          <p:cNvPr id="5" name="Text 3"/>
          <p:cNvSpPr/>
          <p:nvPr/>
        </p:nvSpPr>
        <p:spPr>
          <a:xfrm>
            <a:off x="649224" y="194767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685800" y="205740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Read grayscale</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fingerprint image</a:t>
            </a:r>
            <a:endParaRPr lang="en-US" sz="1150" dirty="0"/>
          </a:p>
        </p:txBody>
      </p:sp>
      <p:sp>
        <p:nvSpPr>
          <p:cNvPr id="7" name="Text 5"/>
          <p:cNvSpPr/>
          <p:nvPr/>
        </p:nvSpPr>
        <p:spPr>
          <a:xfrm>
            <a:off x="2651760" y="192024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788920" y="1920240"/>
            <a:ext cx="2057400" cy="1051560"/>
          </a:xfrm>
          <a:prstGeom prst="roundRect">
            <a:avLst>
              <a:gd name="adj" fmla="val 7826"/>
            </a:avLst>
          </a:prstGeom>
          <a:solidFill>
            <a:srgbClr val="00A896"/>
          </a:solidFill>
          <a:ln/>
        </p:spPr>
      </p:sp>
      <p:sp>
        <p:nvSpPr>
          <p:cNvPr id="9" name="Text 7"/>
          <p:cNvSpPr/>
          <p:nvPr/>
        </p:nvSpPr>
        <p:spPr>
          <a:xfrm>
            <a:off x="2843784" y="194767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2880360" y="205740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Median filter</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(remove noise)</a:t>
            </a:r>
            <a:endParaRPr lang="en-US" sz="1150" dirty="0"/>
          </a:p>
        </p:txBody>
      </p:sp>
      <p:sp>
        <p:nvSpPr>
          <p:cNvPr id="11" name="Text 9"/>
          <p:cNvSpPr/>
          <p:nvPr/>
        </p:nvSpPr>
        <p:spPr>
          <a:xfrm>
            <a:off x="4846320" y="192024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983480" y="1920240"/>
            <a:ext cx="2057400" cy="1051560"/>
          </a:xfrm>
          <a:prstGeom prst="roundRect">
            <a:avLst>
              <a:gd name="adj" fmla="val 7826"/>
            </a:avLst>
          </a:prstGeom>
          <a:solidFill>
            <a:srgbClr val="028090"/>
          </a:solidFill>
          <a:ln/>
        </p:spPr>
      </p:sp>
      <p:sp>
        <p:nvSpPr>
          <p:cNvPr id="13" name="Text 11"/>
          <p:cNvSpPr/>
          <p:nvPr/>
        </p:nvSpPr>
        <p:spPr>
          <a:xfrm>
            <a:off x="5038344" y="194767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5074920" y="205740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CLAHE</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(boost contrast)</a:t>
            </a:r>
            <a:endParaRPr lang="en-US" sz="1150" dirty="0"/>
          </a:p>
        </p:txBody>
      </p:sp>
      <p:sp>
        <p:nvSpPr>
          <p:cNvPr id="15" name="Text 13"/>
          <p:cNvSpPr/>
          <p:nvPr/>
        </p:nvSpPr>
        <p:spPr>
          <a:xfrm>
            <a:off x="7040880" y="192024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178040" y="1920240"/>
            <a:ext cx="2057400" cy="1051560"/>
          </a:xfrm>
          <a:prstGeom prst="roundRect">
            <a:avLst>
              <a:gd name="adj" fmla="val 7826"/>
            </a:avLst>
          </a:prstGeom>
          <a:solidFill>
            <a:srgbClr val="00A896"/>
          </a:solidFill>
          <a:ln/>
        </p:spPr>
      </p:sp>
      <p:sp>
        <p:nvSpPr>
          <p:cNvPr id="17" name="Text 15"/>
          <p:cNvSpPr/>
          <p:nvPr/>
        </p:nvSpPr>
        <p:spPr>
          <a:xfrm>
            <a:off x="7232904" y="194767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7269480" y="205740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Gabor filter</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(optional)</a:t>
            </a:r>
            <a:endParaRPr lang="en-US" sz="1150" dirty="0"/>
          </a:p>
        </p:txBody>
      </p:sp>
      <p:sp>
        <p:nvSpPr>
          <p:cNvPr id="19" name="Text 17"/>
          <p:cNvSpPr/>
          <p:nvPr/>
        </p:nvSpPr>
        <p:spPr>
          <a:xfrm>
            <a:off x="9235440" y="192024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9372600" y="1920240"/>
            <a:ext cx="2057400" cy="1051560"/>
          </a:xfrm>
          <a:prstGeom prst="roundRect">
            <a:avLst>
              <a:gd name="adj" fmla="val 7826"/>
            </a:avLst>
          </a:prstGeom>
          <a:solidFill>
            <a:srgbClr val="028090"/>
          </a:solidFill>
          <a:ln/>
        </p:spPr>
      </p:sp>
      <p:sp>
        <p:nvSpPr>
          <p:cNvPr id="21" name="Text 19"/>
          <p:cNvSpPr/>
          <p:nvPr/>
        </p:nvSpPr>
        <p:spPr>
          <a:xfrm>
            <a:off x="9427464" y="194767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9464040" y="205740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Otsu global</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threshold</a:t>
            </a:r>
            <a:endParaRPr lang="en-US" sz="1150" dirty="0"/>
          </a:p>
        </p:txBody>
      </p:sp>
      <p:sp>
        <p:nvSpPr>
          <p:cNvPr id="23" name="Shape 21"/>
          <p:cNvSpPr/>
          <p:nvPr/>
        </p:nvSpPr>
        <p:spPr>
          <a:xfrm>
            <a:off x="594360" y="3657600"/>
            <a:ext cx="2057400" cy="1051560"/>
          </a:xfrm>
          <a:prstGeom prst="roundRect">
            <a:avLst>
              <a:gd name="adj" fmla="val 7826"/>
            </a:avLst>
          </a:prstGeom>
          <a:solidFill>
            <a:srgbClr val="00A896"/>
          </a:solidFill>
          <a:ln/>
        </p:spPr>
      </p:sp>
      <p:sp>
        <p:nvSpPr>
          <p:cNvPr id="24" name="Text 22"/>
          <p:cNvSpPr/>
          <p:nvPr/>
        </p:nvSpPr>
        <p:spPr>
          <a:xfrm>
            <a:off x="649224" y="368503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5" name="Text 23"/>
          <p:cNvSpPr/>
          <p:nvPr/>
        </p:nvSpPr>
        <p:spPr>
          <a:xfrm>
            <a:off x="685800" y="379476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Adaptive</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threshold</a:t>
            </a:r>
            <a:endParaRPr lang="en-US" sz="1150" dirty="0"/>
          </a:p>
        </p:txBody>
      </p:sp>
      <p:sp>
        <p:nvSpPr>
          <p:cNvPr id="26" name="Text 24"/>
          <p:cNvSpPr/>
          <p:nvPr/>
        </p:nvSpPr>
        <p:spPr>
          <a:xfrm>
            <a:off x="2651760" y="365760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2788920" y="3657600"/>
            <a:ext cx="2057400" cy="1051560"/>
          </a:xfrm>
          <a:prstGeom prst="roundRect">
            <a:avLst>
              <a:gd name="adj" fmla="val 7826"/>
            </a:avLst>
          </a:prstGeom>
          <a:solidFill>
            <a:srgbClr val="028090"/>
          </a:solidFill>
          <a:ln/>
        </p:spPr>
      </p:sp>
      <p:sp>
        <p:nvSpPr>
          <p:cNvPr id="28" name="Text 26"/>
          <p:cNvSpPr/>
          <p:nvPr/>
        </p:nvSpPr>
        <p:spPr>
          <a:xfrm>
            <a:off x="2843784" y="368503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9" name="Text 27"/>
          <p:cNvSpPr/>
          <p:nvPr/>
        </p:nvSpPr>
        <p:spPr>
          <a:xfrm>
            <a:off x="2880360" y="379476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Morphological</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open + close</a:t>
            </a:r>
            <a:endParaRPr lang="en-US" sz="1150" dirty="0"/>
          </a:p>
        </p:txBody>
      </p:sp>
      <p:sp>
        <p:nvSpPr>
          <p:cNvPr id="30" name="Text 28"/>
          <p:cNvSpPr/>
          <p:nvPr/>
        </p:nvSpPr>
        <p:spPr>
          <a:xfrm>
            <a:off x="4846320" y="365760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4983480" y="3657600"/>
            <a:ext cx="2057400" cy="1051560"/>
          </a:xfrm>
          <a:prstGeom prst="roundRect">
            <a:avLst>
              <a:gd name="adj" fmla="val 7826"/>
            </a:avLst>
          </a:prstGeom>
          <a:solidFill>
            <a:srgbClr val="00A896"/>
          </a:solidFill>
          <a:ln/>
        </p:spPr>
      </p:sp>
      <p:sp>
        <p:nvSpPr>
          <p:cNvPr id="32" name="Text 30"/>
          <p:cNvSpPr/>
          <p:nvPr/>
        </p:nvSpPr>
        <p:spPr>
          <a:xfrm>
            <a:off x="5038344" y="368503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3" name="Text 31"/>
          <p:cNvSpPr/>
          <p:nvPr/>
        </p:nvSpPr>
        <p:spPr>
          <a:xfrm>
            <a:off x="5074920" y="379476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Thinning /</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skeletonization</a:t>
            </a:r>
            <a:endParaRPr lang="en-US" sz="1150" dirty="0"/>
          </a:p>
        </p:txBody>
      </p:sp>
      <p:sp>
        <p:nvSpPr>
          <p:cNvPr id="34" name="Text 32"/>
          <p:cNvSpPr/>
          <p:nvPr/>
        </p:nvSpPr>
        <p:spPr>
          <a:xfrm>
            <a:off x="7040880" y="365760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35" name="Shape 33"/>
          <p:cNvSpPr/>
          <p:nvPr/>
        </p:nvSpPr>
        <p:spPr>
          <a:xfrm>
            <a:off x="7178040" y="3657600"/>
            <a:ext cx="2057400" cy="1051560"/>
          </a:xfrm>
          <a:prstGeom prst="roundRect">
            <a:avLst>
              <a:gd name="adj" fmla="val 7826"/>
            </a:avLst>
          </a:prstGeom>
          <a:solidFill>
            <a:srgbClr val="028090"/>
          </a:solidFill>
          <a:ln/>
        </p:spPr>
      </p:sp>
      <p:sp>
        <p:nvSpPr>
          <p:cNvPr id="36" name="Text 34"/>
          <p:cNvSpPr/>
          <p:nvPr/>
        </p:nvSpPr>
        <p:spPr>
          <a:xfrm>
            <a:off x="7232904" y="368503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7" name="Text 35"/>
          <p:cNvSpPr/>
          <p:nvPr/>
        </p:nvSpPr>
        <p:spPr>
          <a:xfrm>
            <a:off x="7269480" y="379476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Detect minutiae</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(endings &amp; forks)</a:t>
            </a:r>
            <a:endParaRPr lang="en-US" sz="1150" dirty="0"/>
          </a:p>
        </p:txBody>
      </p:sp>
      <p:sp>
        <p:nvSpPr>
          <p:cNvPr id="38" name="Text 36"/>
          <p:cNvSpPr/>
          <p:nvPr/>
        </p:nvSpPr>
        <p:spPr>
          <a:xfrm>
            <a:off x="9235440" y="3657600"/>
            <a:ext cx="137160" cy="1051560"/>
          </a:xfrm>
          <a:prstGeom prst="rect">
            <a:avLst/>
          </a:prstGeom>
          <a:noFill/>
          <a:ln/>
        </p:spPr>
        <p:txBody>
          <a:bodyPr wrap="square" rtlCol="0" anchor="ctr"/>
          <a:lstStyle/>
          <a:p>
            <a:pPr marL="0" indent="0" algn="ctr">
              <a:buNone/>
            </a:pPr>
            <a:r>
              <a:rPr lang="en-US" sz="1600" b="1" dirty="0">
                <a:solidFill>
                  <a:srgbClr val="36454F"/>
                </a:solidFill>
                <a:latin typeface="Calibri" pitchFamily="34" charset="0"/>
                <a:ea typeface="Calibri" pitchFamily="34" charset="-122"/>
                <a:cs typeface="Calibri" pitchFamily="34" charset="-120"/>
              </a:rPr>
              <a:t>→</a:t>
            </a:r>
            <a:endParaRPr lang="en-US" sz="1600" dirty="0"/>
          </a:p>
        </p:txBody>
      </p:sp>
      <p:sp>
        <p:nvSpPr>
          <p:cNvPr id="39" name="Shape 37"/>
          <p:cNvSpPr/>
          <p:nvPr/>
        </p:nvSpPr>
        <p:spPr>
          <a:xfrm>
            <a:off x="9372600" y="3657600"/>
            <a:ext cx="2057400" cy="1051560"/>
          </a:xfrm>
          <a:prstGeom prst="roundRect">
            <a:avLst>
              <a:gd name="adj" fmla="val 7826"/>
            </a:avLst>
          </a:prstGeom>
          <a:solidFill>
            <a:srgbClr val="1E2761"/>
          </a:solidFill>
          <a:ln/>
        </p:spPr>
      </p:sp>
      <p:sp>
        <p:nvSpPr>
          <p:cNvPr id="40" name="Text 38"/>
          <p:cNvSpPr/>
          <p:nvPr/>
        </p:nvSpPr>
        <p:spPr>
          <a:xfrm>
            <a:off x="9427464" y="3685032"/>
            <a:ext cx="3657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1" name="Text 39"/>
          <p:cNvSpPr/>
          <p:nvPr/>
        </p:nvSpPr>
        <p:spPr>
          <a:xfrm>
            <a:off x="9464040" y="3794760"/>
            <a:ext cx="1874520" cy="822960"/>
          </a:xfrm>
          <a:prstGeom prst="rect">
            <a:avLst/>
          </a:prstGeom>
          <a:noFill/>
          <a:ln/>
        </p:spPr>
        <p:txBody>
          <a:bodyPr wrap="square" rtlCol="0" anchor="ctr"/>
          <a:lstStyle/>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Mark final</a:t>
            </a:r>
            <a:endParaRPr lang="en-US" sz="1150" dirty="0"/>
          </a:p>
          <a:p>
            <a:pPr marL="0" indent="0" algn="ctr">
              <a:lnSpc>
                <a:spcPts val="1300"/>
              </a:lnSpc>
              <a:buNone/>
            </a:pPr>
            <a:r>
              <a:rPr lang="en-US" sz="1150" b="1" dirty="0">
                <a:solidFill>
                  <a:srgbClr val="FFFFFF"/>
                </a:solidFill>
                <a:latin typeface="Calibri" pitchFamily="34" charset="0"/>
                <a:ea typeface="Calibri" pitchFamily="34" charset="-122"/>
                <a:cs typeface="Calibri" pitchFamily="34" charset="-120"/>
              </a:rPr>
              <a:t>output image</a:t>
            </a:r>
            <a:endParaRPr lang="en-US" sz="1150" dirty="0"/>
          </a:p>
        </p:txBody>
      </p:sp>
      <p:sp>
        <p:nvSpPr>
          <p:cNvPr id="42" name="Text 40"/>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9AA5AD"/>
                </a:solidFill>
                <a:latin typeface="Calibri" pitchFamily="34" charset="0"/>
                <a:ea typeface="Calibri" pitchFamily="34" charset="-122"/>
                <a:cs typeface="Calibri" pitchFamily="34" charset="-120"/>
              </a:rPr>
              <a:t>Scenario 10: Fingerprint Thresholding for Minutiae Extraction</a:t>
            </a:r>
            <a:endParaRPr lang="en-US" sz="900" dirty="0"/>
          </a:p>
        </p:txBody>
      </p:sp>
      <p:sp>
        <p:nvSpPr>
          <p:cNvPr id="43" name="Text 41"/>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5</a:t>
            </a:r>
            <a:endParaRPr lang="en-US" sz="900" dirty="0"/>
          </a:p>
        </p:txBody>
      </p:sp>
      <p:pic>
        <p:nvPicPr>
          <p:cNvPr id="45" name="Picture 1">
            <a:extLst>
              <a:ext uri="{FF2B5EF4-FFF2-40B4-BE49-F238E27FC236}">
                <a16:creationId xmlns:a16="http://schemas.microsoft.com/office/drawing/2014/main" id="{639330E6-061A-A81A-5335-B4D0F8EA6A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2225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07662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These Techniques Were Selected</a:t>
            </a:r>
            <a:endParaRPr lang="en-US" sz="3000" dirty="0"/>
          </a:p>
        </p:txBody>
      </p:sp>
      <p:sp>
        <p:nvSpPr>
          <p:cNvPr id="3" name="Text 1"/>
          <p:cNvSpPr/>
          <p:nvPr/>
        </p:nvSpPr>
        <p:spPr>
          <a:xfrm>
            <a:off x="548640" y="1625268"/>
            <a:ext cx="11064240" cy="36576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Justification for each stage of the pipeline</a:t>
            </a:r>
            <a:endParaRPr lang="en-US" sz="1400" dirty="0"/>
          </a:p>
        </p:txBody>
      </p:sp>
      <p:sp>
        <p:nvSpPr>
          <p:cNvPr id="4" name="Shape 2"/>
          <p:cNvSpPr/>
          <p:nvPr/>
        </p:nvSpPr>
        <p:spPr>
          <a:xfrm>
            <a:off x="548640" y="2174696"/>
            <a:ext cx="384048" cy="384048"/>
          </a:xfrm>
          <a:prstGeom prst="ellipse">
            <a:avLst/>
          </a:prstGeom>
          <a:solidFill>
            <a:srgbClr val="E3F3F2"/>
          </a:solidFill>
          <a:ln/>
        </p:spPr>
      </p:sp>
      <p:sp>
        <p:nvSpPr>
          <p:cNvPr id="5" name="Text 3"/>
          <p:cNvSpPr/>
          <p:nvPr/>
        </p:nvSpPr>
        <p:spPr>
          <a:xfrm>
            <a:off x="548640" y="2168704"/>
            <a:ext cx="384048" cy="384048"/>
          </a:xfrm>
          <a:prstGeom prst="rect">
            <a:avLst/>
          </a:prstGeom>
          <a:noFill/>
          <a:ln/>
        </p:spPr>
        <p:txBody>
          <a:bodyPr wrap="square"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97280" y="180136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Median filtering beats Gaussian blur here — it removes isolated noise without smearing thin ridge lines.</a:t>
            </a:r>
            <a:endParaRPr lang="en-US" sz="1300" dirty="0"/>
          </a:p>
        </p:txBody>
      </p:sp>
      <p:sp>
        <p:nvSpPr>
          <p:cNvPr id="7" name="Shape 5"/>
          <p:cNvSpPr/>
          <p:nvPr/>
        </p:nvSpPr>
        <p:spPr>
          <a:xfrm>
            <a:off x="548640" y="2926080"/>
            <a:ext cx="384048" cy="384048"/>
          </a:xfrm>
          <a:prstGeom prst="ellipse">
            <a:avLst/>
          </a:prstGeom>
          <a:solidFill>
            <a:srgbClr val="E3F3F2"/>
          </a:solidFill>
          <a:ln/>
        </p:spPr>
      </p:sp>
      <p:sp>
        <p:nvSpPr>
          <p:cNvPr id="8" name="Text 6"/>
          <p:cNvSpPr/>
          <p:nvPr/>
        </p:nvSpPr>
        <p:spPr>
          <a:xfrm>
            <a:off x="548640" y="2926080"/>
            <a:ext cx="384048" cy="384048"/>
          </a:xfrm>
          <a:prstGeom prst="rect">
            <a:avLst/>
          </a:prstGeom>
          <a:noFill/>
          <a:ln/>
        </p:spPr>
        <p:txBody>
          <a:bodyPr wrap="square"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97280" y="285292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CLAHE improves contrast locally, matching the local nature of fingerprint pressure variation.</a:t>
            </a:r>
            <a:endParaRPr lang="en-US" sz="1300" dirty="0"/>
          </a:p>
        </p:txBody>
      </p:sp>
      <p:sp>
        <p:nvSpPr>
          <p:cNvPr id="10" name="Shape 8"/>
          <p:cNvSpPr/>
          <p:nvPr/>
        </p:nvSpPr>
        <p:spPr>
          <a:xfrm>
            <a:off x="548640" y="3977640"/>
            <a:ext cx="384048" cy="384048"/>
          </a:xfrm>
          <a:prstGeom prst="ellipse">
            <a:avLst/>
          </a:prstGeom>
          <a:solidFill>
            <a:srgbClr val="E3F3F2"/>
          </a:solidFill>
          <a:ln/>
        </p:spPr>
      </p:sp>
      <p:sp>
        <p:nvSpPr>
          <p:cNvPr id="11" name="Text 9"/>
          <p:cNvSpPr/>
          <p:nvPr/>
        </p:nvSpPr>
        <p:spPr>
          <a:xfrm>
            <a:off x="548640" y="3977640"/>
            <a:ext cx="384048" cy="384048"/>
          </a:xfrm>
          <a:prstGeom prst="rect">
            <a:avLst/>
          </a:prstGeom>
          <a:noFill/>
          <a:ln/>
        </p:spPr>
        <p:txBody>
          <a:bodyPr wrap="square"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97280" y="390448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Otsu's method is fast and automatic since ridge/valley intensities form two clear clusters after enhancement.</a:t>
            </a:r>
            <a:endParaRPr lang="en-US" sz="1300" dirty="0"/>
          </a:p>
        </p:txBody>
      </p:sp>
      <p:sp>
        <p:nvSpPr>
          <p:cNvPr id="13" name="Shape 11"/>
          <p:cNvSpPr/>
          <p:nvPr/>
        </p:nvSpPr>
        <p:spPr>
          <a:xfrm>
            <a:off x="548640" y="5029200"/>
            <a:ext cx="384048" cy="384048"/>
          </a:xfrm>
          <a:prstGeom prst="ellipse">
            <a:avLst/>
          </a:prstGeom>
          <a:solidFill>
            <a:srgbClr val="E3F3F2"/>
          </a:solidFill>
          <a:ln/>
        </p:spPr>
      </p:sp>
      <p:sp>
        <p:nvSpPr>
          <p:cNvPr id="14" name="Text 12"/>
          <p:cNvSpPr/>
          <p:nvPr/>
        </p:nvSpPr>
        <p:spPr>
          <a:xfrm>
            <a:off x="548640" y="5029200"/>
            <a:ext cx="384048" cy="384048"/>
          </a:xfrm>
          <a:prstGeom prst="rect">
            <a:avLst/>
          </a:prstGeom>
          <a:noFill/>
          <a:ln/>
        </p:spPr>
        <p:txBody>
          <a:bodyPr wrap="square"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097280" y="495604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Adaptive thresholding complements Otsu because real scans rarely have perfectly uniform lighting.</a:t>
            </a:r>
            <a:endParaRPr lang="en-US" sz="1300" dirty="0"/>
          </a:p>
        </p:txBody>
      </p:sp>
      <p:sp>
        <p:nvSpPr>
          <p:cNvPr id="16" name="Shape 14"/>
          <p:cNvSpPr/>
          <p:nvPr/>
        </p:nvSpPr>
        <p:spPr>
          <a:xfrm>
            <a:off x="6400800" y="2124798"/>
            <a:ext cx="384048" cy="384048"/>
          </a:xfrm>
          <a:prstGeom prst="ellipse">
            <a:avLst/>
          </a:prstGeom>
          <a:solidFill>
            <a:srgbClr val="E3F3F2"/>
          </a:solidFill>
          <a:ln/>
        </p:spPr>
      </p:sp>
      <p:sp>
        <p:nvSpPr>
          <p:cNvPr id="17" name="Text 15"/>
          <p:cNvSpPr/>
          <p:nvPr/>
        </p:nvSpPr>
        <p:spPr>
          <a:xfrm>
            <a:off x="6400800" y="1874520"/>
            <a:ext cx="384048" cy="384048"/>
          </a:xfrm>
          <a:prstGeom prst="rect">
            <a:avLst/>
          </a:prstGeom>
          <a:noFill/>
          <a:ln/>
        </p:spPr>
        <p:txBody>
          <a:bodyPr wrap="square" rtlCol="0" anchor="ctr"/>
          <a:lstStyle/>
          <a:p>
            <a:pPr marL="0" indent="0" algn="ctr">
              <a:buNone/>
            </a:pPr>
            <a:endParaRPr lang="en-US" sz="1400" b="1" dirty="0">
              <a:solidFill>
                <a:srgbClr val="028090"/>
              </a:solidFill>
              <a:latin typeface="Calibri" pitchFamily="34" charset="0"/>
              <a:ea typeface="Calibri" pitchFamily="34" charset="-122"/>
              <a:cs typeface="Calibri" pitchFamily="34" charset="-120"/>
            </a:endParaRPr>
          </a:p>
          <a:p>
            <a:pPr marL="0" indent="0" algn="ctr">
              <a:buNone/>
            </a:pPr>
            <a:endParaRPr lang="en-US" sz="1400" b="1" dirty="0">
              <a:solidFill>
                <a:srgbClr val="028090"/>
              </a:solidFill>
              <a:latin typeface="Calibri" pitchFamily="34" charset="0"/>
              <a:ea typeface="Calibri" pitchFamily="34" charset="-122"/>
              <a:cs typeface="Calibri" pitchFamily="34" charset="-120"/>
            </a:endParaRPr>
          </a:p>
          <a:p>
            <a:pPr marL="0" indent="0" algn="ctr">
              <a:buNone/>
            </a:pPr>
            <a:r>
              <a:rPr lang="en-US" sz="1400" b="1" dirty="0">
                <a:solidFill>
                  <a:srgbClr val="028090"/>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949440" y="180136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Morphological opening/closing removes tiny noise specks and gaps that could be wrongly read as minutiae.</a:t>
            </a:r>
            <a:endParaRPr lang="en-US" sz="1300" dirty="0"/>
          </a:p>
        </p:txBody>
      </p:sp>
      <p:sp>
        <p:nvSpPr>
          <p:cNvPr id="19" name="Shape 17"/>
          <p:cNvSpPr/>
          <p:nvPr/>
        </p:nvSpPr>
        <p:spPr>
          <a:xfrm>
            <a:off x="6400800" y="2926080"/>
            <a:ext cx="384048" cy="384048"/>
          </a:xfrm>
          <a:prstGeom prst="ellipse">
            <a:avLst/>
          </a:prstGeom>
          <a:solidFill>
            <a:srgbClr val="E3F3F2"/>
          </a:solidFill>
          <a:ln/>
        </p:spPr>
      </p:sp>
      <p:sp>
        <p:nvSpPr>
          <p:cNvPr id="20" name="Text 18"/>
          <p:cNvSpPr/>
          <p:nvPr/>
        </p:nvSpPr>
        <p:spPr>
          <a:xfrm>
            <a:off x="6400800" y="2926080"/>
            <a:ext cx="384048" cy="384048"/>
          </a:xfrm>
          <a:prstGeom prst="rect">
            <a:avLst/>
          </a:prstGeom>
          <a:noFill/>
          <a:ln/>
        </p:spPr>
        <p:txBody>
          <a:bodyPr wrap="square"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6949440" y="285292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Thinning is essential — minutiae algorithms are defined on single-pixel-wide skeletons, not thick blobs.</a:t>
            </a:r>
            <a:endParaRPr lang="en-US" sz="1300" dirty="0"/>
          </a:p>
        </p:txBody>
      </p:sp>
      <p:sp>
        <p:nvSpPr>
          <p:cNvPr id="22" name="Shape 20"/>
          <p:cNvSpPr/>
          <p:nvPr/>
        </p:nvSpPr>
        <p:spPr>
          <a:xfrm>
            <a:off x="6400800" y="3977640"/>
            <a:ext cx="384048" cy="384048"/>
          </a:xfrm>
          <a:prstGeom prst="ellipse">
            <a:avLst/>
          </a:prstGeom>
          <a:solidFill>
            <a:srgbClr val="E3F3F2"/>
          </a:solidFill>
          <a:ln/>
        </p:spPr>
      </p:sp>
      <p:sp>
        <p:nvSpPr>
          <p:cNvPr id="23" name="Text 21"/>
          <p:cNvSpPr/>
          <p:nvPr/>
        </p:nvSpPr>
        <p:spPr>
          <a:xfrm>
            <a:off x="6400800" y="3977640"/>
            <a:ext cx="384048" cy="384048"/>
          </a:xfrm>
          <a:prstGeom prst="rect">
            <a:avLst/>
          </a:prstGeom>
          <a:noFill/>
          <a:ln/>
        </p:spPr>
        <p:txBody>
          <a:bodyPr wrap="square"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7</a:t>
            </a:r>
            <a:endParaRPr lang="en-US" sz="1400" dirty="0"/>
          </a:p>
        </p:txBody>
      </p:sp>
      <p:sp>
        <p:nvSpPr>
          <p:cNvPr id="24" name="Text 22"/>
          <p:cNvSpPr/>
          <p:nvPr/>
        </p:nvSpPr>
        <p:spPr>
          <a:xfrm>
            <a:off x="6949440" y="390448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This is a standard, well-tested pipeline used in real biometric systems — balancing speed and accuracy.</a:t>
            </a:r>
            <a:endParaRPr lang="en-US" sz="1300" dirty="0"/>
          </a:p>
        </p:txBody>
      </p:sp>
      <p:sp>
        <p:nvSpPr>
          <p:cNvPr id="25" name="Shape 23"/>
          <p:cNvSpPr/>
          <p:nvPr/>
        </p:nvSpPr>
        <p:spPr>
          <a:xfrm>
            <a:off x="6400800" y="5029200"/>
            <a:ext cx="384048" cy="384048"/>
          </a:xfrm>
          <a:prstGeom prst="ellipse">
            <a:avLst/>
          </a:prstGeom>
          <a:solidFill>
            <a:srgbClr val="E3F3F2"/>
          </a:solidFill>
          <a:ln/>
        </p:spPr>
      </p:sp>
      <p:sp>
        <p:nvSpPr>
          <p:cNvPr id="26" name="Text 24"/>
          <p:cNvSpPr/>
          <p:nvPr/>
        </p:nvSpPr>
        <p:spPr>
          <a:xfrm>
            <a:off x="6400800" y="5029200"/>
            <a:ext cx="384048" cy="384048"/>
          </a:xfrm>
          <a:prstGeom prst="rect">
            <a:avLst/>
          </a:prstGeom>
          <a:noFill/>
          <a:ln/>
        </p:spPr>
        <p:txBody>
          <a:bodyPr wrap="square"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8</a:t>
            </a:r>
            <a:endParaRPr lang="en-US" sz="1400" dirty="0"/>
          </a:p>
        </p:txBody>
      </p:sp>
      <p:sp>
        <p:nvSpPr>
          <p:cNvPr id="27" name="Text 25"/>
          <p:cNvSpPr/>
          <p:nvPr/>
        </p:nvSpPr>
        <p:spPr>
          <a:xfrm>
            <a:off x="6949440" y="4956048"/>
            <a:ext cx="4846320" cy="960120"/>
          </a:xfrm>
          <a:prstGeom prst="rect">
            <a:avLst/>
          </a:prstGeom>
          <a:noFill/>
          <a:ln/>
        </p:spPr>
        <p:txBody>
          <a:bodyPr wrap="square" rtlCol="0" anchor="ctr"/>
          <a:lstStyle/>
          <a:p>
            <a:pPr marL="0" indent="0">
              <a:lnSpc>
                <a:spcPts val="1600"/>
              </a:lnSpc>
              <a:buNone/>
            </a:pPr>
            <a:r>
              <a:rPr lang="en-US" sz="1300" dirty="0">
                <a:solidFill>
                  <a:srgbClr val="36454F"/>
                </a:solidFill>
                <a:latin typeface="Calibri" pitchFamily="34" charset="0"/>
                <a:ea typeface="Calibri" pitchFamily="34" charset="-122"/>
                <a:cs typeface="Calibri" pitchFamily="34" charset="-120"/>
              </a:rPr>
              <a:t>Each stage reduces the errors passed to the next, so the combination outperforms any single technique.</a:t>
            </a:r>
            <a:endParaRPr lang="en-US" sz="1300" dirty="0"/>
          </a:p>
        </p:txBody>
      </p:sp>
      <p:sp>
        <p:nvSpPr>
          <p:cNvPr id="29" name="Text 27"/>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6</a:t>
            </a:r>
            <a:endParaRPr lang="en-US" sz="900" dirty="0"/>
          </a:p>
        </p:txBody>
      </p:sp>
      <p:pic>
        <p:nvPicPr>
          <p:cNvPr id="31" name="Picture 1">
            <a:extLst>
              <a:ext uri="{FF2B5EF4-FFF2-40B4-BE49-F238E27FC236}">
                <a16:creationId xmlns:a16="http://schemas.microsoft.com/office/drawing/2014/main" id="{C41F9EC3-A59D-AB80-ECCA-C4D2860CA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129032"/>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4416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Expected Output</a:t>
            </a:r>
            <a:endParaRPr lang="en-US" sz="3000" dirty="0"/>
          </a:p>
        </p:txBody>
      </p:sp>
      <p:sp>
        <p:nvSpPr>
          <p:cNvPr id="4" name="Shape 2"/>
          <p:cNvSpPr/>
          <p:nvPr/>
        </p:nvSpPr>
        <p:spPr>
          <a:xfrm>
            <a:off x="548640" y="2108718"/>
            <a:ext cx="11064240" cy="908802"/>
          </a:xfrm>
          <a:prstGeom prst="roundRect">
            <a:avLst>
              <a:gd name="adj" fmla="val 5714"/>
            </a:avLst>
          </a:prstGeom>
          <a:solidFill>
            <a:srgbClr val="E3F3F2"/>
          </a:solidFill>
          <a:ln/>
        </p:spPr>
      </p:sp>
      <p:sp>
        <p:nvSpPr>
          <p:cNvPr id="5" name="Text 3"/>
          <p:cNvSpPr/>
          <p:nvPr/>
        </p:nvSpPr>
        <p:spPr>
          <a:xfrm>
            <a:off x="868680" y="1737360"/>
            <a:ext cx="10424160" cy="1280160"/>
          </a:xfrm>
          <a:prstGeom prst="rect">
            <a:avLst/>
          </a:prstGeom>
          <a:noFill/>
          <a:ln/>
        </p:spPr>
        <p:txBody>
          <a:bodyPr wrap="square" rtlCol="0" anchor="ctr"/>
          <a:lstStyle/>
          <a:p>
            <a:pPr marL="0" indent="0" algn="l">
              <a:lnSpc>
                <a:spcPts val="1800"/>
              </a:lnSpc>
              <a:buNone/>
            </a:pPr>
            <a:r>
              <a:rPr lang="en-US" sz="1400" dirty="0">
                <a:solidFill>
                  <a:srgbClr val="1E2761"/>
                </a:solidFill>
                <a:latin typeface="Calibri" pitchFamily="34" charset="0"/>
                <a:ea typeface="Calibri" pitchFamily="34" charset="-122"/>
                <a:cs typeface="Calibri" pitchFamily="34" charset="-120"/>
              </a:rPr>
              <a:t>A clean, binary, skeletonized fingerprint image: ridges appear as thin, continuous, single-pixel-wide lines on a plain background, with noise and broken segments removed and minutiae points (endings &amp; bifurcations) clearly marked — ready for matching.</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3218688"/>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Enhancement</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Median Filtering</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Remove noise, preserve edges</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Enhancement</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CLAHE</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Improve local ridge/valley contrast</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Enhancement</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Gabor Filtering</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Strengthen ridge continuity</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Segmentation</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Otsu's Thresholding</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Automatic global ridge/valley split</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02336">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Segmentation</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Adaptive Thresholding</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Handle uneven illumination</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Post-processing</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Morphological Open/Close</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Remove specks, fill small gaps</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402336">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Post-processing</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Thinning</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1150" dirty="0">
                          <a:solidFill>
                            <a:srgbClr val="36454F"/>
                          </a:solidFill>
                          <a:latin typeface="Calibri" pitchFamily="34" charset="0"/>
                          <a:ea typeface="Calibri" pitchFamily="34" charset="-122"/>
                          <a:cs typeface="Calibri" pitchFamily="34" charset="-120"/>
                        </a:rPr>
                        <a:t>Single-pixel skeleton for minutiae</a:t>
                      </a:r>
                      <a:endParaRPr lang="en-US" sz="1150" dirty="0">
                        <a:latin typeface="Calibri" charset="0"/>
                        <a:ea typeface="Calibri" charset="0"/>
                        <a:cs typeface="Calibri" charset="0"/>
                      </a:endParaRPr>
                    </a:p>
                  </a:txBody>
                  <a:tcPr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7</a:t>
            </a:r>
            <a:endParaRPr lang="en-US" sz="900" dirty="0"/>
          </a:p>
        </p:txBody>
      </p:sp>
      <p:pic>
        <p:nvPicPr>
          <p:cNvPr id="10" name="Picture 1">
            <a:extLst>
              <a:ext uri="{FF2B5EF4-FFF2-40B4-BE49-F238E27FC236}">
                <a16:creationId xmlns:a16="http://schemas.microsoft.com/office/drawing/2014/main" id="{D9A394E4-03F4-B83D-F66A-BC83B97DF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2225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134602"/>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Advantages &amp; Limitations</a:t>
            </a:r>
            <a:endParaRPr lang="en-US" sz="3000" dirty="0"/>
          </a:p>
        </p:txBody>
      </p:sp>
      <p:sp>
        <p:nvSpPr>
          <p:cNvPr id="3" name="Text 1"/>
          <p:cNvSpPr/>
          <p:nvPr/>
        </p:nvSpPr>
        <p:spPr>
          <a:xfrm>
            <a:off x="457200" y="1637522"/>
            <a:ext cx="11064240" cy="36576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Balancing strengths against practical constraints</a:t>
            </a:r>
            <a:endParaRPr lang="en-US" sz="1400" dirty="0"/>
          </a:p>
        </p:txBody>
      </p:sp>
      <p:sp>
        <p:nvSpPr>
          <p:cNvPr id="4" name="Shape 2"/>
          <p:cNvSpPr/>
          <p:nvPr/>
        </p:nvSpPr>
        <p:spPr>
          <a:xfrm>
            <a:off x="457200" y="2319590"/>
            <a:ext cx="5440680" cy="2975532"/>
          </a:xfrm>
          <a:prstGeom prst="roundRect">
            <a:avLst>
              <a:gd name="adj" fmla="val 2041"/>
            </a:avLst>
          </a:prstGeom>
          <a:solidFill>
            <a:srgbClr val="E3F3F2"/>
          </a:solidFill>
          <a:ln/>
        </p:spPr>
      </p:sp>
      <p:sp>
        <p:nvSpPr>
          <p:cNvPr id="5" name="Text 3"/>
          <p:cNvSpPr/>
          <p:nvPr/>
        </p:nvSpPr>
        <p:spPr>
          <a:xfrm>
            <a:off x="822960" y="1965960"/>
            <a:ext cx="4937760" cy="36576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ADVANTAGES</a:t>
            </a:r>
            <a:endParaRPr lang="en-US" sz="1600" dirty="0"/>
          </a:p>
        </p:txBody>
      </p:sp>
      <p:sp>
        <p:nvSpPr>
          <p:cNvPr id="6" name="Text 4"/>
          <p:cNvSpPr/>
          <p:nvPr/>
        </p:nvSpPr>
        <p:spPr>
          <a:xfrm>
            <a:off x="822960" y="2423160"/>
            <a:ext cx="4937760" cy="3749040"/>
          </a:xfrm>
          <a:prstGeom prst="rect">
            <a:avLst/>
          </a:prstGeom>
          <a:noFill/>
          <a:ln/>
        </p:spPr>
        <p:txBody>
          <a:bodyPr wrap="square" rtlCol="0" anchor="t"/>
          <a:lstStyle/>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Produces a clean binary image ready for minutiae extraction</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Otsu removes need for manual threshold tuning</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Adaptive thresholding handles uneven scan conditions</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Morphology greatly reduces false minutiae from noise</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Thinning gives single-pixel precision for detection</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Computationally light — runs in real time</a:t>
            </a:r>
            <a:endParaRPr lang="en-US" sz="1250" dirty="0"/>
          </a:p>
        </p:txBody>
      </p:sp>
      <p:sp>
        <p:nvSpPr>
          <p:cNvPr id="7" name="Shape 5"/>
          <p:cNvSpPr/>
          <p:nvPr/>
        </p:nvSpPr>
        <p:spPr>
          <a:xfrm>
            <a:off x="6217920" y="2331720"/>
            <a:ext cx="5440680" cy="2975532"/>
          </a:xfrm>
          <a:prstGeom prst="roundRect">
            <a:avLst>
              <a:gd name="adj" fmla="val 2041"/>
            </a:avLst>
          </a:prstGeom>
          <a:solidFill>
            <a:srgbClr val="F2F2F2"/>
          </a:solidFill>
          <a:ln/>
        </p:spPr>
      </p:sp>
      <p:sp>
        <p:nvSpPr>
          <p:cNvPr id="8" name="Text 6"/>
          <p:cNvSpPr/>
          <p:nvPr/>
        </p:nvSpPr>
        <p:spPr>
          <a:xfrm>
            <a:off x="6492240" y="1965960"/>
            <a:ext cx="493776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LIMITATIONS</a:t>
            </a:r>
            <a:endParaRPr lang="en-US" sz="1600" dirty="0"/>
          </a:p>
        </p:txBody>
      </p:sp>
      <p:sp>
        <p:nvSpPr>
          <p:cNvPr id="9" name="Text 7"/>
          <p:cNvSpPr/>
          <p:nvPr/>
        </p:nvSpPr>
        <p:spPr>
          <a:xfrm>
            <a:off x="6492240" y="2423160"/>
            <a:ext cx="4937760" cy="3749040"/>
          </a:xfrm>
          <a:prstGeom prst="rect">
            <a:avLst/>
          </a:prstGeom>
          <a:noFill/>
          <a:ln/>
        </p:spPr>
        <p:txBody>
          <a:bodyPr wrap="square" rtlCol="0" anchor="t"/>
          <a:lstStyle/>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Very dry, wet, or scarred fingers still break ridges</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Otsu can fail badly under strong uneven lighting</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Over-applied morphology may remove real minutiae</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Sensitive to parameter tuning across sensors</a:t>
            </a:r>
            <a:endParaRPr lang="en-US" sz="1250" dirty="0"/>
          </a:p>
        </p:txBody>
      </p:sp>
      <p:sp>
        <p:nvSpPr>
          <p:cNvPr id="11" name="Text 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8</a:t>
            </a:r>
            <a:endParaRPr lang="en-US" sz="900" dirty="0"/>
          </a:p>
        </p:txBody>
      </p:sp>
      <p:pic>
        <p:nvPicPr>
          <p:cNvPr id="13" name="Picture 1">
            <a:extLst>
              <a:ext uri="{FF2B5EF4-FFF2-40B4-BE49-F238E27FC236}">
                <a16:creationId xmlns:a16="http://schemas.microsoft.com/office/drawing/2014/main" id="{3B03913F-624F-BE2F-C80C-C5C06B6928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22225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03974"/>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Real-World Applications</a:t>
            </a:r>
            <a:endParaRPr lang="en-US" sz="3000" dirty="0"/>
          </a:p>
        </p:txBody>
      </p:sp>
      <p:sp>
        <p:nvSpPr>
          <p:cNvPr id="3" name="Text 1"/>
          <p:cNvSpPr/>
          <p:nvPr/>
        </p:nvSpPr>
        <p:spPr>
          <a:xfrm>
            <a:off x="548640" y="1440180"/>
            <a:ext cx="11064240" cy="36576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Where this pipeline is used in practice</a:t>
            </a:r>
            <a:endParaRPr lang="en-US" sz="1400" dirty="0"/>
          </a:p>
        </p:txBody>
      </p:sp>
      <p:sp>
        <p:nvSpPr>
          <p:cNvPr id="4" name="Shape 2"/>
          <p:cNvSpPr/>
          <p:nvPr/>
        </p:nvSpPr>
        <p:spPr>
          <a:xfrm>
            <a:off x="548640" y="1874520"/>
            <a:ext cx="3566160" cy="1371600"/>
          </a:xfrm>
          <a:prstGeom prst="roundRect">
            <a:avLst>
              <a:gd name="adj" fmla="val 6667"/>
            </a:avLst>
          </a:prstGeom>
          <a:solidFill>
            <a:srgbClr val="F2F2F2"/>
          </a:solidFill>
          <a:ln/>
        </p:spPr>
      </p:sp>
      <p:sp>
        <p:nvSpPr>
          <p:cNvPr id="5" name="Shape 3"/>
          <p:cNvSpPr/>
          <p:nvPr/>
        </p:nvSpPr>
        <p:spPr>
          <a:xfrm>
            <a:off x="777240" y="2103120"/>
            <a:ext cx="502920" cy="502920"/>
          </a:xfrm>
          <a:prstGeom prst="ellipse">
            <a:avLst/>
          </a:prstGeom>
          <a:solidFill>
            <a:srgbClr val="00A896"/>
          </a:solidFill>
          <a:ln/>
        </p:spPr>
      </p:sp>
      <p:sp>
        <p:nvSpPr>
          <p:cNvPr id="6" name="Text 4"/>
          <p:cNvSpPr/>
          <p:nvPr/>
        </p:nvSpPr>
        <p:spPr>
          <a:xfrm>
            <a:off x="777240" y="210312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2011680"/>
            <a:ext cx="2468880" cy="1097280"/>
          </a:xfrm>
          <a:prstGeom prst="rect">
            <a:avLst/>
          </a:prstGeom>
          <a:noFill/>
          <a:ln/>
        </p:spPr>
        <p:txBody>
          <a:bodyPr wrap="square" rtlCol="0" anchor="ctr"/>
          <a:lstStyle/>
          <a:p>
            <a:pPr marL="0" indent="0">
              <a:lnSpc>
                <a:spcPts val="1600"/>
              </a:lnSpc>
              <a:buNone/>
            </a:pPr>
            <a:r>
              <a:rPr lang="en-US" sz="1350" b="1" dirty="0">
                <a:solidFill>
                  <a:srgbClr val="1E2761"/>
                </a:solidFill>
                <a:latin typeface="Calibri" pitchFamily="34" charset="0"/>
                <a:ea typeface="Calibri" pitchFamily="34" charset="-122"/>
                <a:cs typeface="Calibri" pitchFamily="34" charset="-120"/>
              </a:rPr>
              <a:t>Biometric attendance systems</a:t>
            </a:r>
            <a:endParaRPr lang="en-US" sz="1350" dirty="0"/>
          </a:p>
        </p:txBody>
      </p:sp>
      <p:sp>
        <p:nvSpPr>
          <p:cNvPr id="8" name="Shape 6"/>
          <p:cNvSpPr/>
          <p:nvPr/>
        </p:nvSpPr>
        <p:spPr>
          <a:xfrm>
            <a:off x="4343400" y="1874520"/>
            <a:ext cx="3566160" cy="1371600"/>
          </a:xfrm>
          <a:prstGeom prst="roundRect">
            <a:avLst>
              <a:gd name="adj" fmla="val 6667"/>
            </a:avLst>
          </a:prstGeom>
          <a:solidFill>
            <a:srgbClr val="F2F2F2"/>
          </a:solidFill>
          <a:ln/>
        </p:spPr>
      </p:sp>
      <p:sp>
        <p:nvSpPr>
          <p:cNvPr id="9" name="Shape 7"/>
          <p:cNvSpPr/>
          <p:nvPr/>
        </p:nvSpPr>
        <p:spPr>
          <a:xfrm>
            <a:off x="4572000" y="2103120"/>
            <a:ext cx="502920" cy="502920"/>
          </a:xfrm>
          <a:prstGeom prst="ellipse">
            <a:avLst/>
          </a:prstGeom>
          <a:solidFill>
            <a:srgbClr val="00A896"/>
          </a:solidFill>
          <a:ln/>
        </p:spPr>
      </p:sp>
      <p:sp>
        <p:nvSpPr>
          <p:cNvPr id="10" name="Text 8"/>
          <p:cNvSpPr/>
          <p:nvPr/>
        </p:nvSpPr>
        <p:spPr>
          <a:xfrm>
            <a:off x="4572000" y="210312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5257800" y="2011680"/>
            <a:ext cx="2468880" cy="1097280"/>
          </a:xfrm>
          <a:prstGeom prst="rect">
            <a:avLst/>
          </a:prstGeom>
          <a:noFill/>
          <a:ln/>
        </p:spPr>
        <p:txBody>
          <a:bodyPr wrap="square" rtlCol="0" anchor="ctr"/>
          <a:lstStyle/>
          <a:p>
            <a:pPr marL="0" indent="0">
              <a:lnSpc>
                <a:spcPts val="1600"/>
              </a:lnSpc>
              <a:buNone/>
            </a:pPr>
            <a:r>
              <a:rPr lang="en-US" sz="1350" b="1" dirty="0">
                <a:solidFill>
                  <a:srgbClr val="1E2761"/>
                </a:solidFill>
                <a:latin typeface="Calibri" pitchFamily="34" charset="0"/>
                <a:ea typeface="Calibri" pitchFamily="34" charset="-122"/>
                <a:cs typeface="Calibri" pitchFamily="34" charset="-120"/>
              </a:rPr>
              <a:t>Smartphone fingerprint unlock</a:t>
            </a:r>
            <a:endParaRPr lang="en-US" sz="1350" dirty="0"/>
          </a:p>
        </p:txBody>
      </p:sp>
      <p:sp>
        <p:nvSpPr>
          <p:cNvPr id="12" name="Shape 10"/>
          <p:cNvSpPr/>
          <p:nvPr/>
        </p:nvSpPr>
        <p:spPr>
          <a:xfrm>
            <a:off x="8138160" y="1874520"/>
            <a:ext cx="3566160" cy="1371600"/>
          </a:xfrm>
          <a:prstGeom prst="roundRect">
            <a:avLst>
              <a:gd name="adj" fmla="val 6667"/>
            </a:avLst>
          </a:prstGeom>
          <a:solidFill>
            <a:srgbClr val="F2F2F2"/>
          </a:solidFill>
          <a:ln/>
        </p:spPr>
      </p:sp>
      <p:sp>
        <p:nvSpPr>
          <p:cNvPr id="13" name="Shape 11"/>
          <p:cNvSpPr/>
          <p:nvPr/>
        </p:nvSpPr>
        <p:spPr>
          <a:xfrm>
            <a:off x="8366760" y="2103120"/>
            <a:ext cx="502920" cy="502920"/>
          </a:xfrm>
          <a:prstGeom prst="ellipse">
            <a:avLst/>
          </a:prstGeom>
          <a:solidFill>
            <a:srgbClr val="00A896"/>
          </a:solidFill>
          <a:ln/>
        </p:spPr>
      </p:sp>
      <p:sp>
        <p:nvSpPr>
          <p:cNvPr id="14" name="Text 12"/>
          <p:cNvSpPr/>
          <p:nvPr/>
        </p:nvSpPr>
        <p:spPr>
          <a:xfrm>
            <a:off x="8366760" y="210312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9052560" y="2011680"/>
            <a:ext cx="2468880" cy="1097280"/>
          </a:xfrm>
          <a:prstGeom prst="rect">
            <a:avLst/>
          </a:prstGeom>
          <a:noFill/>
          <a:ln/>
        </p:spPr>
        <p:txBody>
          <a:bodyPr wrap="square" rtlCol="0" anchor="ctr"/>
          <a:lstStyle/>
          <a:p>
            <a:pPr marL="0" indent="0">
              <a:lnSpc>
                <a:spcPts val="1600"/>
              </a:lnSpc>
              <a:buNone/>
            </a:pPr>
            <a:r>
              <a:rPr lang="en-US" sz="1350" b="1" dirty="0">
                <a:solidFill>
                  <a:srgbClr val="1E2761"/>
                </a:solidFill>
                <a:latin typeface="Calibri" pitchFamily="34" charset="0"/>
                <a:ea typeface="Calibri" pitchFamily="34" charset="-122"/>
                <a:cs typeface="Calibri" pitchFamily="34" charset="-120"/>
              </a:rPr>
              <a:t>Forensic AFIS investigation</a:t>
            </a:r>
            <a:endParaRPr lang="en-US" sz="1350" dirty="0"/>
          </a:p>
        </p:txBody>
      </p:sp>
      <p:sp>
        <p:nvSpPr>
          <p:cNvPr id="16" name="Shape 14"/>
          <p:cNvSpPr/>
          <p:nvPr/>
        </p:nvSpPr>
        <p:spPr>
          <a:xfrm>
            <a:off x="548640" y="3566160"/>
            <a:ext cx="3566160" cy="1371600"/>
          </a:xfrm>
          <a:prstGeom prst="roundRect">
            <a:avLst>
              <a:gd name="adj" fmla="val 6667"/>
            </a:avLst>
          </a:prstGeom>
          <a:solidFill>
            <a:srgbClr val="F2F2F2"/>
          </a:solidFill>
          <a:ln/>
        </p:spPr>
      </p:sp>
      <p:sp>
        <p:nvSpPr>
          <p:cNvPr id="17" name="Shape 15"/>
          <p:cNvSpPr/>
          <p:nvPr/>
        </p:nvSpPr>
        <p:spPr>
          <a:xfrm>
            <a:off x="777240" y="3794760"/>
            <a:ext cx="502920" cy="502920"/>
          </a:xfrm>
          <a:prstGeom prst="ellipse">
            <a:avLst/>
          </a:prstGeom>
          <a:solidFill>
            <a:srgbClr val="00A896"/>
          </a:solidFill>
          <a:ln/>
        </p:spPr>
      </p:sp>
      <p:sp>
        <p:nvSpPr>
          <p:cNvPr id="18" name="Text 16"/>
          <p:cNvSpPr/>
          <p:nvPr/>
        </p:nvSpPr>
        <p:spPr>
          <a:xfrm>
            <a:off x="777240" y="379476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463040" y="3703320"/>
            <a:ext cx="2468880" cy="1097280"/>
          </a:xfrm>
          <a:prstGeom prst="rect">
            <a:avLst/>
          </a:prstGeom>
          <a:noFill/>
          <a:ln/>
        </p:spPr>
        <p:txBody>
          <a:bodyPr wrap="square" rtlCol="0" anchor="ctr"/>
          <a:lstStyle/>
          <a:p>
            <a:pPr marL="0" indent="0">
              <a:lnSpc>
                <a:spcPts val="1600"/>
              </a:lnSpc>
              <a:buNone/>
            </a:pPr>
            <a:r>
              <a:rPr lang="en-US" sz="1350" b="1" dirty="0">
                <a:solidFill>
                  <a:srgbClr val="1E2761"/>
                </a:solidFill>
                <a:latin typeface="Calibri" pitchFamily="34" charset="0"/>
                <a:ea typeface="Calibri" pitchFamily="34" charset="-122"/>
                <a:cs typeface="Calibri" pitchFamily="34" charset="-120"/>
              </a:rPr>
              <a:t>Border control &amp; passport checks</a:t>
            </a:r>
            <a:endParaRPr lang="en-US" sz="1350" dirty="0"/>
          </a:p>
        </p:txBody>
      </p:sp>
      <p:sp>
        <p:nvSpPr>
          <p:cNvPr id="20" name="Shape 18"/>
          <p:cNvSpPr/>
          <p:nvPr/>
        </p:nvSpPr>
        <p:spPr>
          <a:xfrm>
            <a:off x="4343400" y="3566160"/>
            <a:ext cx="3566160" cy="1371600"/>
          </a:xfrm>
          <a:prstGeom prst="roundRect">
            <a:avLst>
              <a:gd name="adj" fmla="val 6667"/>
            </a:avLst>
          </a:prstGeom>
          <a:solidFill>
            <a:srgbClr val="F2F2F2"/>
          </a:solidFill>
          <a:ln/>
        </p:spPr>
      </p:sp>
      <p:sp>
        <p:nvSpPr>
          <p:cNvPr id="21" name="Shape 19"/>
          <p:cNvSpPr/>
          <p:nvPr/>
        </p:nvSpPr>
        <p:spPr>
          <a:xfrm>
            <a:off x="4572000" y="3794760"/>
            <a:ext cx="502920" cy="502920"/>
          </a:xfrm>
          <a:prstGeom prst="ellipse">
            <a:avLst/>
          </a:prstGeom>
          <a:solidFill>
            <a:srgbClr val="00A896"/>
          </a:solidFill>
          <a:ln/>
        </p:spPr>
      </p:sp>
      <p:sp>
        <p:nvSpPr>
          <p:cNvPr id="22" name="Text 20"/>
          <p:cNvSpPr/>
          <p:nvPr/>
        </p:nvSpPr>
        <p:spPr>
          <a:xfrm>
            <a:off x="4572000" y="379476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5257800" y="3703320"/>
            <a:ext cx="2468880" cy="1097280"/>
          </a:xfrm>
          <a:prstGeom prst="rect">
            <a:avLst/>
          </a:prstGeom>
          <a:noFill/>
          <a:ln/>
        </p:spPr>
        <p:txBody>
          <a:bodyPr wrap="square" rtlCol="0" anchor="ctr"/>
          <a:lstStyle/>
          <a:p>
            <a:pPr marL="0" indent="0">
              <a:lnSpc>
                <a:spcPts val="1600"/>
              </a:lnSpc>
              <a:buNone/>
            </a:pPr>
            <a:r>
              <a:rPr lang="en-US" sz="1350" b="1" dirty="0">
                <a:solidFill>
                  <a:srgbClr val="1E2761"/>
                </a:solidFill>
                <a:latin typeface="Calibri" pitchFamily="34" charset="0"/>
                <a:ea typeface="Calibri" pitchFamily="34" charset="-122"/>
                <a:cs typeface="Calibri" pitchFamily="34" charset="-120"/>
              </a:rPr>
              <a:t>Bank locker &amp; ATM security</a:t>
            </a:r>
            <a:endParaRPr lang="en-US" sz="1350" dirty="0"/>
          </a:p>
        </p:txBody>
      </p:sp>
      <p:sp>
        <p:nvSpPr>
          <p:cNvPr id="24" name="Shape 22"/>
          <p:cNvSpPr/>
          <p:nvPr/>
        </p:nvSpPr>
        <p:spPr>
          <a:xfrm>
            <a:off x="8138160" y="3566160"/>
            <a:ext cx="3566160" cy="1371600"/>
          </a:xfrm>
          <a:prstGeom prst="roundRect">
            <a:avLst>
              <a:gd name="adj" fmla="val 6667"/>
            </a:avLst>
          </a:prstGeom>
          <a:solidFill>
            <a:srgbClr val="F2F2F2"/>
          </a:solidFill>
          <a:ln/>
        </p:spPr>
      </p:sp>
      <p:sp>
        <p:nvSpPr>
          <p:cNvPr id="25" name="Shape 23"/>
          <p:cNvSpPr/>
          <p:nvPr/>
        </p:nvSpPr>
        <p:spPr>
          <a:xfrm>
            <a:off x="8366760" y="3794760"/>
            <a:ext cx="502920" cy="502920"/>
          </a:xfrm>
          <a:prstGeom prst="ellipse">
            <a:avLst/>
          </a:prstGeom>
          <a:solidFill>
            <a:srgbClr val="00A896"/>
          </a:solidFill>
          <a:ln/>
        </p:spPr>
      </p:sp>
      <p:sp>
        <p:nvSpPr>
          <p:cNvPr id="26" name="Text 24"/>
          <p:cNvSpPr/>
          <p:nvPr/>
        </p:nvSpPr>
        <p:spPr>
          <a:xfrm>
            <a:off x="8366760" y="379476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9052560" y="3703320"/>
            <a:ext cx="2468880" cy="1097280"/>
          </a:xfrm>
          <a:prstGeom prst="rect">
            <a:avLst/>
          </a:prstGeom>
          <a:noFill/>
          <a:ln/>
        </p:spPr>
        <p:txBody>
          <a:bodyPr wrap="square" rtlCol="0" anchor="ctr"/>
          <a:lstStyle/>
          <a:p>
            <a:pPr marL="0" indent="0">
              <a:lnSpc>
                <a:spcPts val="1600"/>
              </a:lnSpc>
              <a:buNone/>
            </a:pPr>
            <a:r>
              <a:rPr lang="en-US" sz="1350" b="1" dirty="0">
                <a:solidFill>
                  <a:srgbClr val="1E2761"/>
                </a:solidFill>
                <a:latin typeface="Calibri" pitchFamily="34" charset="0"/>
                <a:ea typeface="Calibri" pitchFamily="34" charset="-122"/>
                <a:cs typeface="Calibri" pitchFamily="34" charset="-120"/>
              </a:rPr>
              <a:t>Aadhaar identity verification</a:t>
            </a:r>
            <a:endParaRPr lang="en-US" sz="1350" dirty="0"/>
          </a:p>
        </p:txBody>
      </p:sp>
      <p:sp>
        <p:nvSpPr>
          <p:cNvPr id="28" name="Shape 26"/>
          <p:cNvSpPr/>
          <p:nvPr/>
        </p:nvSpPr>
        <p:spPr>
          <a:xfrm>
            <a:off x="548640" y="5257800"/>
            <a:ext cx="3566160" cy="1371600"/>
          </a:xfrm>
          <a:prstGeom prst="roundRect">
            <a:avLst>
              <a:gd name="adj" fmla="val 6667"/>
            </a:avLst>
          </a:prstGeom>
          <a:solidFill>
            <a:srgbClr val="F2F2F2"/>
          </a:solidFill>
          <a:ln/>
        </p:spPr>
      </p:sp>
      <p:sp>
        <p:nvSpPr>
          <p:cNvPr id="29" name="Shape 27"/>
          <p:cNvSpPr/>
          <p:nvPr/>
        </p:nvSpPr>
        <p:spPr>
          <a:xfrm>
            <a:off x="777240" y="5486400"/>
            <a:ext cx="502920" cy="502920"/>
          </a:xfrm>
          <a:prstGeom prst="ellipse">
            <a:avLst/>
          </a:prstGeom>
          <a:solidFill>
            <a:srgbClr val="00A896"/>
          </a:solidFill>
          <a:ln/>
        </p:spPr>
      </p:sp>
      <p:sp>
        <p:nvSpPr>
          <p:cNvPr id="30" name="Text 28"/>
          <p:cNvSpPr/>
          <p:nvPr/>
        </p:nvSpPr>
        <p:spPr>
          <a:xfrm>
            <a:off x="777240" y="548640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p:nvPr/>
        </p:nvSpPr>
        <p:spPr>
          <a:xfrm>
            <a:off x="1463040" y="5394960"/>
            <a:ext cx="2468880" cy="1097280"/>
          </a:xfrm>
          <a:prstGeom prst="rect">
            <a:avLst/>
          </a:prstGeom>
          <a:noFill/>
          <a:ln/>
        </p:spPr>
        <p:txBody>
          <a:bodyPr wrap="square" rtlCol="0" anchor="ctr"/>
          <a:lstStyle/>
          <a:p>
            <a:pPr marL="0" indent="0">
              <a:lnSpc>
                <a:spcPts val="1600"/>
              </a:lnSpc>
              <a:buNone/>
            </a:pPr>
            <a:r>
              <a:rPr lang="en-US" sz="1350" b="1" dirty="0">
                <a:solidFill>
                  <a:srgbClr val="1E2761"/>
                </a:solidFill>
                <a:latin typeface="Calibri" pitchFamily="34" charset="0"/>
                <a:ea typeface="Calibri" pitchFamily="34" charset="-122"/>
                <a:cs typeface="Calibri" pitchFamily="34" charset="-120"/>
              </a:rPr>
              <a:t>Secure building access control</a:t>
            </a:r>
            <a:endParaRPr lang="en-US" sz="1350" dirty="0"/>
          </a:p>
        </p:txBody>
      </p:sp>
      <p:sp>
        <p:nvSpPr>
          <p:cNvPr id="33" name="Text 31"/>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5AD"/>
                </a:solidFill>
                <a:latin typeface="Calibri" pitchFamily="34" charset="0"/>
                <a:ea typeface="Calibri" pitchFamily="34" charset="-122"/>
                <a:cs typeface="Calibri" pitchFamily="34" charset="-120"/>
              </a:rPr>
              <a:t>9</a:t>
            </a:r>
            <a:endParaRPr lang="en-US" sz="900" dirty="0"/>
          </a:p>
        </p:txBody>
      </p:sp>
      <p:pic>
        <p:nvPicPr>
          <p:cNvPr id="35" name="Picture 1">
            <a:extLst>
              <a:ext uri="{FF2B5EF4-FFF2-40B4-BE49-F238E27FC236}">
                <a16:creationId xmlns:a16="http://schemas.microsoft.com/office/drawing/2014/main" id="{289349C7-A58D-E745-F575-A0E6BA302F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121842"/>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834640"/>
            <a:ext cx="338328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7" name="Text 5"/>
          <p:cNvSpPr/>
          <p:nvPr/>
        </p:nvSpPr>
        <p:spPr>
          <a:xfrm>
            <a:off x="3936274" y="2903687"/>
            <a:ext cx="6949440" cy="457200"/>
          </a:xfrm>
          <a:prstGeom prst="rect">
            <a:avLst/>
          </a:prstGeom>
          <a:noFill/>
          <a:ln/>
        </p:spPr>
        <p:txBody>
          <a:bodyPr wrap="square" rtlCol="0" anchor="ctr"/>
          <a:lstStyle/>
          <a:p>
            <a:pPr marL="0" indent="0">
              <a:buNone/>
            </a:pPr>
            <a:r>
              <a:rPr lang="en-US" sz="5000" b="1" dirty="0">
                <a:solidFill>
                  <a:srgbClr val="028090"/>
                </a:solidFill>
                <a:latin typeface="Cambria" pitchFamily="34" charset="0"/>
                <a:ea typeface="Cambria" pitchFamily="34" charset="-122"/>
                <a:cs typeface="Cambria" pitchFamily="34" charset="-120"/>
              </a:rPr>
              <a:t>Thank You!</a:t>
            </a:r>
            <a:endParaRPr lang="en-US" sz="5000" dirty="0"/>
          </a:p>
        </p:txBody>
      </p:sp>
      <p:pic>
        <p:nvPicPr>
          <p:cNvPr id="9" name="Picture 1">
            <a:extLst>
              <a:ext uri="{FF2B5EF4-FFF2-40B4-BE49-F238E27FC236}">
                <a16:creationId xmlns:a16="http://schemas.microsoft.com/office/drawing/2014/main" id="{69800666-1F4D-CD60-7E29-1D545C1569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121842"/>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842</Words>
  <Application>Microsoft Office PowerPoint</Application>
  <PresentationFormat>Widescreen</PresentationFormat>
  <Paragraphs>208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balu balaji</cp:lastModifiedBy>
  <cp:revision>3</cp:revision>
  <dcterms:created xsi:type="dcterms:W3CDTF">2026-08-01T04:43:09Z</dcterms:created>
  <dcterms:modified xsi:type="dcterms:W3CDTF">2026-08-01T05:24:37Z</dcterms:modified>
</cp:coreProperties>
</file>